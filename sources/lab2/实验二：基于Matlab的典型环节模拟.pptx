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26"/>
  </p:notesMasterIdLst>
  <p:handoutMasterIdLst>
    <p:handoutMasterId r:id="rId27"/>
  </p:handoutMasterIdLst>
  <p:sldIdLst>
    <p:sldId id="566" r:id="rId3"/>
    <p:sldId id="489" r:id="rId4"/>
    <p:sldId id="505" r:id="rId5"/>
    <p:sldId id="507" r:id="rId6"/>
    <p:sldId id="504" r:id="rId7"/>
    <p:sldId id="545" r:id="rId8"/>
    <p:sldId id="546" r:id="rId9"/>
    <p:sldId id="562" r:id="rId10"/>
    <p:sldId id="547" r:id="rId11"/>
    <p:sldId id="549" r:id="rId12"/>
    <p:sldId id="543" r:id="rId13"/>
    <p:sldId id="550" r:id="rId14"/>
    <p:sldId id="551" r:id="rId15"/>
    <p:sldId id="552" r:id="rId16"/>
    <p:sldId id="553" r:id="rId17"/>
    <p:sldId id="554" r:id="rId18"/>
    <p:sldId id="563" r:id="rId19"/>
    <p:sldId id="564" r:id="rId20"/>
    <p:sldId id="555" r:id="rId21"/>
    <p:sldId id="556" r:id="rId22"/>
    <p:sldId id="559" r:id="rId23"/>
    <p:sldId id="560" r:id="rId24"/>
    <p:sldId id="565" r:id="rId25"/>
  </p:sldIdLst>
  <p:sldSz cx="9144000" cy="5143500" type="screen16x9"/>
  <p:notesSz cx="6742113" cy="98758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925" userDrawn="1">
          <p15:clr>
            <a:srgbClr val="A4A3A4"/>
          </p15:clr>
        </p15:guide>
        <p15:guide id="3" orient="horz" pos="15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Zhonghua" initials="L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56" autoAdjust="0"/>
    <p:restoredTop sz="94660"/>
  </p:normalViewPr>
  <p:slideViewPr>
    <p:cSldViewPr showGuides="1">
      <p:cViewPr>
        <p:scale>
          <a:sx n="75" d="100"/>
          <a:sy n="75" d="100"/>
        </p:scale>
        <p:origin x="1732" y="992"/>
      </p:cViewPr>
      <p:guideLst>
        <p:guide orient="horz" pos="2164"/>
        <p:guide pos="2925"/>
        <p:guide orient="horz" pos="15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4E3A0-EA17-4147-AE84-E9CF5D214796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80538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9525" y="9380538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C1D3C-E236-4A6B-9D24-92E274BCF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2030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21582" cy="493792"/>
          </a:xfrm>
          <a:prstGeom prst="rect">
            <a:avLst/>
          </a:prstGeom>
        </p:spPr>
        <p:txBody>
          <a:bodyPr vert="horz" lIns="94929" tIns="47464" rIns="94929" bIns="47464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8971" y="2"/>
            <a:ext cx="2921582" cy="493792"/>
          </a:xfrm>
          <a:prstGeom prst="rect">
            <a:avLst/>
          </a:prstGeom>
        </p:spPr>
        <p:txBody>
          <a:bodyPr vert="horz" lIns="94929" tIns="47464" rIns="94929" bIns="47464" rtlCol="0"/>
          <a:lstStyle>
            <a:lvl1pPr algn="r">
              <a:defRPr sz="1200"/>
            </a:lvl1pPr>
          </a:lstStyle>
          <a:p>
            <a:pPr>
              <a:defRPr/>
            </a:pPr>
            <a:fld id="{DF49745B-86D1-4364-8211-602611735F61}" type="datetimeFigureOut">
              <a:rPr lang="zh-CN" altLang="en-US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41363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29" tIns="47464" rIns="94929" bIns="4746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4212" y="4691024"/>
            <a:ext cx="5393690" cy="4444127"/>
          </a:xfrm>
          <a:prstGeom prst="rect">
            <a:avLst/>
          </a:prstGeom>
        </p:spPr>
        <p:txBody>
          <a:bodyPr vert="horz" lIns="94929" tIns="47464" rIns="94929" bIns="4746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380334"/>
            <a:ext cx="2921582" cy="493792"/>
          </a:xfrm>
          <a:prstGeom prst="rect">
            <a:avLst/>
          </a:prstGeom>
        </p:spPr>
        <p:txBody>
          <a:bodyPr vert="horz" lIns="94929" tIns="47464" rIns="94929" bIns="4746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8971" y="9380334"/>
            <a:ext cx="2921582" cy="493792"/>
          </a:xfrm>
          <a:prstGeom prst="rect">
            <a:avLst/>
          </a:prstGeom>
        </p:spPr>
        <p:txBody>
          <a:bodyPr vert="horz" lIns="94929" tIns="47464" rIns="94929" bIns="47464" rtlCol="0" anchor="b"/>
          <a:lstStyle>
            <a:lvl1pPr algn="r">
              <a:defRPr sz="1200"/>
            </a:lvl1pPr>
          </a:lstStyle>
          <a:p>
            <a:pPr>
              <a:defRPr/>
            </a:pPr>
            <a:fld id="{047D2384-817E-4543-892F-F8BE09FB108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0497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algn="ctr" eaLnBrk="0" hangingPunct="0">
              <a:defRPr/>
            </a:pP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 eaLnBrk="0" hangingPunct="0">
              <a:defRPr/>
            </a:pPr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565" y="4683919"/>
            <a:ext cx="279883" cy="276997"/>
          </a:xfr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lvl1pPr>
              <a:defRPr lang="en-US" altLang="zh-CN" smtClean="0"/>
            </a:lvl1pPr>
          </a:lstStyle>
          <a:p>
            <a:pPr fontAlgn="auto" hangingPunct="0">
              <a:spcBef>
                <a:spcPts val="0"/>
              </a:spcBef>
              <a:spcAft>
                <a:spcPts val="0"/>
              </a:spcAft>
              <a:buFontTx/>
              <a:buNone/>
            </a:pPr>
            <a:fld id="{05073D58-D4B0-478A-9BC2-FFD39750F949}" type="slidenum">
              <a:rPr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auto" hangingPunct="0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306072" y="4803998"/>
            <a:ext cx="514400" cy="273843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EB0708C-BAB9-4629-971A-74C368D96A58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75B5F-B1CF-4E91-A04E-D39648BDF17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首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novo\Desktop\ad09c6c5278e6a8602d5053a941a2be4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9"/>
          <a:stretch>
            <a:fillRect/>
          </a:stretch>
        </p:blipFill>
        <p:spPr bwMode="auto">
          <a:xfrm>
            <a:off x="0" y="-51997"/>
            <a:ext cx="9144000" cy="433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01723" y="1295498"/>
            <a:ext cx="7772400" cy="600164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3300" b="1">
                <a:solidFill>
                  <a:schemeClr val="accent6">
                    <a:lumMod val="75000"/>
                  </a:schemeClr>
                </a:solidFill>
                <a:effectLst>
                  <a:glow rad="228600">
                    <a:schemeClr val="bg1">
                      <a:alpha val="9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基于</a:t>
            </a:r>
            <a:r>
              <a:rPr lang="en-US" altLang="zh-CN" dirty="0"/>
              <a:t>NI ELVIS</a:t>
            </a:r>
            <a:r>
              <a:rPr lang="zh-CN" altLang="en-US" dirty="0"/>
              <a:t>的自控原理实验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149160"/>
            <a:ext cx="9144000" cy="299434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5000">
                <a:schemeClr val="bg1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TextBox 7"/>
          <p:cNvSpPr txBox="1"/>
          <p:nvPr userDrawn="1"/>
        </p:nvSpPr>
        <p:spPr>
          <a:xfrm>
            <a:off x="7950299" y="3748813"/>
            <a:ext cx="9829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100" b="0" dirty="0">
                <a:latin typeface="方正中等线简体" panose="03000509000000000000" pitchFamily="65" charset="-122"/>
                <a:ea typeface="方正中等线简体" panose="03000509000000000000" pitchFamily="65" charset="-122"/>
              </a:rPr>
              <a:t>李中华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421580" y="4079033"/>
            <a:ext cx="250634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lizhongh@mail.sysu.edu.cn</a:t>
            </a:r>
          </a:p>
          <a:p>
            <a:pPr algn="r"/>
            <a:r>
              <a:rPr lang="en-US" altLang="zh-CN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Office: </a:t>
            </a:r>
            <a:r>
              <a:rPr lang="zh-CN" altLang="en-US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工学园</a:t>
            </a:r>
            <a:r>
              <a:rPr lang="en-US" altLang="zh-CN" sz="1500" i="0" dirty="0">
                <a:solidFill>
                  <a:srgbClr val="00B0F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1-708</a:t>
            </a:r>
            <a:endParaRPr lang="zh-CN" altLang="en-US" sz="1500" i="0" dirty="0">
              <a:solidFill>
                <a:srgbClr val="00B0F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H="1">
            <a:off x="5632529" y="4100465"/>
            <a:ext cx="3246108" cy="0"/>
          </a:xfrm>
          <a:prstGeom prst="line">
            <a:avLst/>
          </a:prstGeom>
          <a:ln w="38100" cmpd="sng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5818392" y="33468"/>
            <a:ext cx="3244799" cy="300082"/>
          </a:xfrm>
          <a:prstGeom prst="rect">
            <a:avLst/>
          </a:prstGeom>
          <a:solidFill>
            <a:srgbClr val="00B0F0">
              <a:alpha val="50196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ISE356</a:t>
            </a:r>
            <a:r>
              <a:rPr lang="en-US" altLang="zh-CN" sz="1350" b="0" i="0" u="none" strike="noStrike" kern="1200" baseline="0" dirty="0">
                <a:solidFill>
                  <a:schemeClr val="bg1"/>
                </a:solidFill>
                <a:effectLst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Experiment of Automatic Control</a:t>
            </a:r>
            <a:endParaRPr lang="zh-CN" altLang="en-US" sz="1350" b="0" i="0" u="none" strike="noStrike" kern="1200" baseline="0" dirty="0">
              <a:solidFill>
                <a:schemeClr val="bg1"/>
              </a:solidFill>
              <a:effectLst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69055"/>
            <a:ext cx="8229600" cy="113109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lvl="0" indent="0" fontAlgn="auto" hangingPunct="0">
              <a:spcBef>
                <a:spcPts val="0"/>
              </a:spcBef>
              <a:buSzTx/>
              <a:buNone/>
            </a:pPr>
            <a:r>
              <a:t>正文级别 1</a:t>
            </a:r>
          </a:p>
          <a:p>
            <a:pPr marL="457200" lvl="1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2</a:t>
            </a:r>
          </a:p>
          <a:p>
            <a:pPr marL="914400" lvl="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3</a:t>
            </a:r>
          </a:p>
          <a:p>
            <a:pPr marL="1371600" lvl="3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4</a:t>
            </a:r>
          </a:p>
          <a:p>
            <a:pPr marL="1828800" lvl="4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</a:pPr>
            <a:r>
              <a:t>正文级别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384893" y="4683919"/>
            <a:ext cx="279883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lvl1pPr>
              <a:defRPr lang="en-US" altLang="zh-CN" sz="1200" b="1" smtClean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/>
              </a:defRPr>
            </a:lvl1pPr>
          </a:lstStyle>
          <a:p>
            <a:pPr fontAlgn="auto" hangingPunct="0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lang="en-US" altLang="zh-CN" smtClean="0"/>
              <a:t>‹#›</a:t>
            </a:fld>
            <a:endParaRPr lang="zh-CN" altLang="en-US" dirty="0"/>
          </a:p>
        </p:txBody>
      </p:sp>
      <p:cxnSp>
        <p:nvCxnSpPr>
          <p:cNvPr id="5" name="直接连接符 2"/>
          <p:cNvCxnSpPr/>
          <p:nvPr userDrawn="1"/>
        </p:nvCxnSpPr>
        <p:spPr>
          <a:xfrm>
            <a:off x="0" y="947956"/>
            <a:ext cx="91440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defRPr sz="1200" b="1" i="0" u="none" strike="noStrike" kern="1200" cap="none" spc="0" baseline="0">
          <a:ln>
            <a:noFill/>
          </a:ln>
          <a:solidFill>
            <a:prstClr val="black">
              <a:tint val="75000"/>
            </a:prstClr>
          </a:solidFill>
          <a:uFillTx/>
          <a:latin typeface="+mn-ea"/>
          <a:ea typeface="+mn-ea"/>
          <a:cs typeface="+mn-cs"/>
          <a:sym typeface="Arial" panose="020B060402020202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defRPr sz="3200" b="0" i="0" u="none" strike="noStrike" kern="1200" cap="none" spc="0" baseline="0">
          <a:ln>
            <a:noFill/>
          </a:ln>
          <a:solidFill>
            <a:schemeClr val="tx1"/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  <a:sym typeface="Arial" panose="020B0604020202020204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/>
            <a:endParaRPr lang="zh-CN" altLang="en-US" b="1">
              <a:solidFill>
                <a:prstClr val="black">
                  <a:tint val="75000"/>
                </a:prstClr>
              </a:solidFill>
              <a:latin typeface="Verdana" panose="020B060403050404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/>
            <a:endParaRPr lang="zh-CN" altLang="en-US" b="1">
              <a:solidFill>
                <a:prstClr val="black">
                  <a:tint val="75000"/>
                </a:prstClr>
              </a:solidFill>
              <a:latin typeface="Verdana" panose="020B0604030504040204" pitchFamily="34" charset="0"/>
            </a:endParaRPr>
          </a:p>
        </p:txBody>
      </p:sp>
      <p:cxnSp>
        <p:nvCxnSpPr>
          <p:cNvPr id="6" name="直接连接符 2"/>
          <p:cNvCxnSpPr/>
          <p:nvPr userDrawn="1"/>
        </p:nvCxnSpPr>
        <p:spPr>
          <a:xfrm>
            <a:off x="0" y="947956"/>
            <a:ext cx="91440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9552" y="1925419"/>
            <a:ext cx="8352928" cy="64633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37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实验二：基于</a:t>
            </a:r>
            <a:r>
              <a:rPr lang="en-GB" altLang="zh-CN" sz="375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37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的典型环节模拟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2</a:t>
            </a:fld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3" name="矩形 2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一、实验目的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561157" y="1198993"/>
            <a:ext cx="811529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+mj-lt"/>
              <a:buAutoNum type="alphaUcPeriod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了解典型环节的电路实现 ；</a:t>
            </a:r>
            <a:endParaRPr lang="en-US" altLang="zh-CN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200"/>
              </a:spcAft>
              <a:buFont typeface="+mj-lt"/>
              <a:buAutoNum type="alphaUcPeriod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观察和分析各典型环节的单位阶跃响应曲线，掌握它们各自的特性。</a:t>
            </a:r>
            <a:endParaRPr lang="en-US" altLang="zh-CN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6532" y="1347614"/>
            <a:ext cx="7992888" cy="3189463"/>
          </a:xfr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比例环节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的阶跃响应曲线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惯性环节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的阶跃响应曲线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积分环节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的阶跃响应曲线</a:t>
            </a: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微分环节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的阶跃响应曲线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比例积分环节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的阶跃响应曲线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比例微分环节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的阶跃响应曲线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722" y="379497"/>
            <a:ext cx="2415119" cy="492443"/>
            <a:chOff x="251520" y="5246424"/>
            <a:chExt cx="1574342" cy="492443"/>
          </a:xfrm>
        </p:grpSpPr>
        <p:sp>
          <p:nvSpPr>
            <p:cNvPr id="3" name="矩形 2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4" y="5246424"/>
              <a:ext cx="1574338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二、实验要求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4</a:t>
            </a:fld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7" name="矩形 6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三、实验仪器</a:t>
              </a:r>
            </a:p>
          </p:txBody>
        </p:sp>
      </p:grpSp>
      <p:grpSp>
        <p:nvGrpSpPr>
          <p:cNvPr id="9" name="Group 5"/>
          <p:cNvGrpSpPr/>
          <p:nvPr/>
        </p:nvGrpSpPr>
        <p:grpSpPr>
          <a:xfrm>
            <a:off x="1412600" y="1480053"/>
            <a:ext cx="2295304" cy="1811777"/>
            <a:chOff x="9210261" y="1750153"/>
            <a:chExt cx="2295304" cy="1811777"/>
          </a:xfrm>
        </p:grpSpPr>
        <p:pic>
          <p:nvPicPr>
            <p:cNvPr id="10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10261" y="1750153"/>
              <a:ext cx="2295304" cy="1811777"/>
            </a:xfrm>
            <a:prstGeom prst="rect">
              <a:avLst/>
            </a:prstGeom>
          </p:spPr>
        </p:pic>
        <p:sp>
          <p:nvSpPr>
            <p:cNvPr id="11" name="Rectangle 2"/>
            <p:cNvSpPr/>
            <p:nvPr/>
          </p:nvSpPr>
          <p:spPr>
            <a:xfrm>
              <a:off x="9680713" y="2199861"/>
              <a:ext cx="1391478" cy="456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实验室电脑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118695" y="364045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计算机</a:t>
            </a:r>
            <a:endParaRPr kumimoji="1" lang="zh-CN" alt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010" y="1687707"/>
            <a:ext cx="2452334" cy="153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5720468" y="36404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+mn-ea"/>
              </a:rPr>
              <a:t>Matlab</a:t>
            </a:r>
            <a:r>
              <a:rPr lang="zh-CN" altLang="en-US" dirty="0">
                <a:latin typeface="+mn-ea"/>
              </a:rPr>
              <a:t>软件平台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136963" y="910545"/>
            <a:ext cx="281550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、比例环节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797174" y="4143076"/>
          <a:ext cx="2797868" cy="748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3" imgW="1637665" imgH="431800" progId="Equation.DSMT4">
                  <p:embed/>
                </p:oleObj>
              </mc:Choice>
              <mc:Fallback>
                <p:oleObj name="Equation" r:id="rId3" imgW="1637665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174" y="4143076"/>
                        <a:ext cx="2797868" cy="748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44954" y="20747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“虚短”、“虚断”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27563" y="2845157"/>
                <a:ext cx="3508333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3" y="2845157"/>
                <a:ext cx="3508333" cy="675185"/>
              </a:xfrm>
              <a:prstGeom prst="rect">
                <a:avLst/>
              </a:prstGeom>
              <a:blipFill rotWithShape="1">
                <a:blip r:embed="rId5"/>
                <a:stretch>
                  <a:fillRect l="-16" t="-53" r="1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7416316" y="2387084"/>
            <a:ext cx="1440160" cy="23083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该电路中缺乏反相器，因此得出</a:t>
            </a:r>
            <a:r>
              <a:rPr lang="en-US" altLang="zh-CN" dirty="0"/>
              <a:t>K</a:t>
            </a:r>
            <a:r>
              <a:rPr lang="zh-CN" altLang="en-US" dirty="0"/>
              <a:t>值是负数。实验过程中，可假设有反相器，改为正数。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7380312" y="1051785"/>
            <a:ext cx="1440160" cy="1249455"/>
            <a:chOff x="7524328" y="123478"/>
            <a:chExt cx="1440160" cy="124945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0332" y="123478"/>
              <a:ext cx="1368152" cy="1033496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7982906" y="1095934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反相器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7524328" y="123478"/>
              <a:ext cx="1440160" cy="1249455"/>
            </a:xfrm>
            <a:prstGeom prst="rect">
              <a:avLst/>
            </a:prstGeom>
            <a:no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19" name="矩形 18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四、实验原理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3888" y="1347614"/>
            <a:ext cx="3574582" cy="2621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6</a:t>
            </a:fld>
            <a:endParaRPr lang="en-US" altLang="zh-CN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48949"/>
              </p:ext>
            </p:extLst>
          </p:nvPr>
        </p:nvGraphicFramePr>
        <p:xfrm>
          <a:off x="611560" y="2499742"/>
          <a:ext cx="2312027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1485720" imgH="863280" progId="Equation.DSMT4">
                  <p:embed/>
                </p:oleObj>
              </mc:Choice>
              <mc:Fallback>
                <p:oleObj name="Equation" r:id="rId3" imgW="1485720" imgH="8632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499742"/>
                        <a:ext cx="2312027" cy="1368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11" name="矩形 10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四、实验原理</a:t>
              </a:r>
            </a:p>
          </p:txBody>
        </p:sp>
      </p:grp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-136963" y="910545"/>
            <a:ext cx="281550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、惯性环节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1203598"/>
            <a:ext cx="4851087" cy="3557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131590"/>
            <a:ext cx="4850351" cy="3672408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7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939902"/>
            <a:ext cx="3456384" cy="89535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10" name="矩形 9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四、实验原理</a:t>
              </a:r>
            </a:p>
          </p:txBody>
        </p:sp>
      </p:grp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-136963" y="910545"/>
            <a:ext cx="281550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、积分环节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467544" y="2715766"/>
                <a:ext cx="152881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altLang="zh-CN" b="0" i="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15766"/>
                <a:ext cx="1528815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306072" y="4803998"/>
            <a:ext cx="514400" cy="273843"/>
          </a:xfrm>
        </p:spPr>
        <p:txBody>
          <a:bodyPr/>
          <a:lstStyle/>
          <a:p>
            <a:fld id="{D2D75B5F-B1CF-4E91-A04E-D39648BDF170}" type="slidenum">
              <a:rPr lang="en-US" altLang="zh-CN" sz="1200" smtClean="0"/>
              <a:t>8</a:t>
            </a:fld>
            <a:endParaRPr lang="en-US" altLang="zh-CN" sz="1200" dirty="0"/>
          </a:p>
        </p:txBody>
      </p:sp>
      <p:grpSp>
        <p:nvGrpSpPr>
          <p:cNvPr id="3" name="组合 2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四、实验原理</a:t>
              </a:r>
            </a:p>
          </p:txBody>
        </p:sp>
      </p:grp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-136963" y="910545"/>
            <a:ext cx="281550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、微分环节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1419622"/>
            <a:ext cx="5734992" cy="3454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9</a:t>
            </a:fld>
            <a:endParaRPr lang="en-US" altLang="zh-CN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267796"/>
              </p:ext>
            </p:extLst>
          </p:nvPr>
        </p:nvGraphicFramePr>
        <p:xfrm>
          <a:off x="611560" y="2211710"/>
          <a:ext cx="2618047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1752480" imgH="888840" progId="Equation.DSMT4">
                  <p:embed/>
                </p:oleObj>
              </mc:Choice>
              <mc:Fallback>
                <p:oleObj name="Equation" r:id="rId3" imgW="1752480" imgH="8888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211710"/>
                        <a:ext cx="2618047" cy="1368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10" name="矩形 9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四、实验原理</a:t>
              </a:r>
            </a:p>
          </p:txBody>
        </p:sp>
      </p:grp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8306" y="910545"/>
            <a:ext cx="281550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6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、比例积分环节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72" y="1131590"/>
            <a:ext cx="4942734" cy="3624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10</a:t>
            </a:fld>
            <a:endParaRPr lang="en-US" altLang="zh-CN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746233"/>
              </p:ext>
            </p:extLst>
          </p:nvPr>
        </p:nvGraphicFramePr>
        <p:xfrm>
          <a:off x="323528" y="2355726"/>
          <a:ext cx="2384425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3" imgW="1676160" imgH="863280" progId="Equation.DSMT4">
                  <p:embed/>
                </p:oleObj>
              </mc:Choice>
              <mc:Fallback>
                <p:oleObj name="Equation" r:id="rId3" imgW="1676160" imgH="8632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355726"/>
                        <a:ext cx="2384425" cy="1250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796136" y="4227934"/>
                <a:ext cx="1080120" cy="3539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7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7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227934"/>
                <a:ext cx="1080120" cy="353943"/>
              </a:xfrm>
              <a:prstGeom prst="rect">
                <a:avLst/>
              </a:prstGeom>
              <a:blipFill rotWithShape="1">
                <a:blip r:embed="rId7"/>
                <a:stretch>
                  <a:fillRect l="-45" t="-29" r="44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12" name="矩形 11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四、实验原理</a:t>
              </a:r>
            </a:p>
          </p:txBody>
        </p:sp>
      </p:grp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0" y="922412"/>
            <a:ext cx="281550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kern="100" dirty="0">
                <a:solidFill>
                  <a:srgbClr val="0070C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、比例微分环节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1800" y="1419622"/>
            <a:ext cx="5873186" cy="32995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56195" y="1158194"/>
            <a:ext cx="7413476" cy="461665"/>
          </a:xfrm>
        </p:spPr>
        <p:txBody>
          <a:bodyPr wrap="square">
            <a:spAutoFit/>
          </a:bodyPr>
          <a:lstStyle/>
          <a:p>
            <a:pPr marL="457200" lvl="1" algn="just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：绘制比例环节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(P)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的阶跃响应曲线</a:t>
            </a:r>
            <a:endParaRPr lang="en-US" altLang="zh-CN" sz="2400" b="1" kern="1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71" y="3403455"/>
            <a:ext cx="6371034" cy="15374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948406"/>
            <a:ext cx="4686300" cy="100012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6" name="矩形 5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4" y="1419622"/>
            <a:ext cx="2542684" cy="1864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12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059582"/>
            <a:ext cx="7105650" cy="2951163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75856" y="4071581"/>
          <a:ext cx="2797868" cy="748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4" imgW="1637665" imgH="431800" progId="Equation.DSMT4">
                  <p:embed/>
                </p:oleObj>
              </mc:Choice>
              <mc:Fallback>
                <p:oleObj name="Equation" r:id="rId4" imgW="1637665" imgH="431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071581"/>
                        <a:ext cx="2797868" cy="748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08520" y="1116340"/>
            <a:ext cx="7560840" cy="461665"/>
          </a:xfrm>
        </p:spPr>
        <p:txBody>
          <a:bodyPr wrap="square">
            <a:spAutoFit/>
          </a:bodyPr>
          <a:lstStyle/>
          <a:p>
            <a:pPr marL="457200" lvl="1" algn="just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：绘制惯性环节的阶跃响应曲线</a:t>
            </a:r>
            <a:endParaRPr lang="en-US" altLang="zh-CN" sz="2400" b="1" kern="1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34" y="1851670"/>
            <a:ext cx="5657850" cy="12668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4" y="3260724"/>
            <a:ext cx="7753350" cy="180022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6" name="矩形 5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1203598"/>
            <a:ext cx="2701883" cy="19813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069724"/>
            <a:ext cx="6048672" cy="3004052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75856" y="4188016"/>
          <a:ext cx="3475044" cy="58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4" imgW="2628900" imgH="431800" progId="Equation.DSMT4">
                  <p:embed/>
                </p:oleObj>
              </mc:Choice>
              <mc:Fallback>
                <p:oleObj name="Equation" r:id="rId4" imgW="2628900" imgH="431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188016"/>
                        <a:ext cx="3475044" cy="581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3" name="矩形 2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73224"/>
            <a:ext cx="7200800" cy="461665"/>
          </a:xfrm>
        </p:spPr>
        <p:txBody>
          <a:bodyPr wrap="square">
            <a:spAutoFit/>
          </a:bodyPr>
          <a:lstStyle/>
          <a:p>
            <a:pPr marL="457200" lvl="1" algn="just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：绘制积分环节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(I)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的阶跃响应曲线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22" y="1635646"/>
            <a:ext cx="5467350" cy="1409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420491"/>
            <a:ext cx="7219950" cy="165735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4" y="1203598"/>
            <a:ext cx="2808312" cy="21262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16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87574"/>
            <a:ext cx="7077075" cy="30885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4012279"/>
            <a:ext cx="3705225" cy="8953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1094350"/>
            <a:ext cx="6552728" cy="46166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algn="just" fontAlgn="auto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：绘制微分环节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的阶跃响应曲线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436" y="1857996"/>
            <a:ext cx="4141856" cy="100811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37" y="3544316"/>
            <a:ext cx="7153275" cy="1533525"/>
          </a:xfrm>
          <a:prstGeom prst="rect">
            <a:avLst/>
          </a:prstGeom>
        </p:spPr>
      </p:pic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306072" y="4803998"/>
            <a:ext cx="514400" cy="273843"/>
          </a:xfrm>
        </p:spPr>
        <p:txBody>
          <a:bodyPr/>
          <a:lstStyle/>
          <a:p>
            <a:fld id="{D2D75B5F-B1CF-4E91-A04E-D39648BDF170}" type="slidenum">
              <a:rPr lang="en-US" altLang="zh-CN" sz="1200" smtClean="0"/>
              <a:t>17</a:t>
            </a:fld>
            <a:endParaRPr lang="en-US" altLang="zh-CN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3" name="矩形 2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563638"/>
            <a:ext cx="3105259" cy="1870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102452"/>
            <a:ext cx="7067550" cy="3152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212557" y="4412540"/>
                <a:ext cx="2718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557" y="4412540"/>
                <a:ext cx="271888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" t="-152" r="20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306072" y="4803998"/>
            <a:ext cx="514400" cy="273843"/>
          </a:xfrm>
        </p:spPr>
        <p:txBody>
          <a:bodyPr/>
          <a:lstStyle/>
          <a:p>
            <a:fld id="{D2D75B5F-B1CF-4E91-A04E-D39648BDF170}" type="slidenum">
              <a:rPr lang="en-US" altLang="zh-CN" sz="1200" smtClean="0"/>
              <a:t>18</a:t>
            </a:fld>
            <a:endParaRPr lang="en-US" altLang="zh-CN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3" name="矩形 2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70953" y="1095969"/>
            <a:ext cx="7701508" cy="461665"/>
          </a:xfrm>
        </p:spPr>
        <p:txBody>
          <a:bodyPr wrap="square">
            <a:spAutoFit/>
          </a:bodyPr>
          <a:lstStyle/>
          <a:p>
            <a:pPr marL="457200" lvl="1" algn="just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：绘制比例积分环节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(PI)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的阶跃响应曲线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37" y="1757039"/>
            <a:ext cx="5476875" cy="12668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223270"/>
            <a:ext cx="7219950" cy="16097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30555" y="3440013"/>
            <a:ext cx="1421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注：运行之前需要先将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T</a:t>
            </a:r>
            <a:r>
              <a:rPr lang="zh-CN" altLang="en-US" dirty="0"/>
              <a:t>赋值。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7" name="矩形 6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6" y="1563638"/>
            <a:ext cx="2267744" cy="16630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20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652" y="1151620"/>
            <a:ext cx="6264696" cy="3001305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87824" y="4209877"/>
          <a:ext cx="3771839" cy="597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4" imgW="2895600" imgH="444500" progId="Equation.DSMT4">
                  <p:embed/>
                </p:oleObj>
              </mc:Choice>
              <mc:Fallback>
                <p:oleObj name="Equation" r:id="rId4" imgW="2895600" imgH="4445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209877"/>
                        <a:ext cx="3771839" cy="5975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21</a:t>
            </a:fld>
            <a:endParaRPr lang="en-US" altLang="zh-CN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66835" y="1058964"/>
            <a:ext cx="7920880" cy="461665"/>
          </a:xfrm>
        </p:spPr>
        <p:txBody>
          <a:bodyPr wrap="square">
            <a:spAutoFit/>
          </a:bodyPr>
          <a:lstStyle/>
          <a:p>
            <a:pPr marL="457200" lvl="1" algn="just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：绘制比例微分环节</a:t>
            </a:r>
            <a:r>
              <a:rPr lang="en-US" altLang="zh-CN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(PD)</a:t>
            </a:r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的阶跃响应曲线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05" y="3210941"/>
            <a:ext cx="7239000" cy="18669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30555" y="3440013"/>
            <a:ext cx="1421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注：增益的大小由电阻、电容值确定。</a:t>
            </a:r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971600" y="1707654"/>
            <a:ext cx="4883150" cy="121348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1563638"/>
            <a:ext cx="2632826" cy="14791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75B5F-B1CF-4E91-A04E-D39648BDF170}" type="slidenum">
              <a:rPr lang="en-US" altLang="zh-CN" smtClean="0"/>
              <a:t>22</a:t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31590"/>
            <a:ext cx="7019925" cy="3048000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55776" y="4135085"/>
          <a:ext cx="4046821" cy="624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2844800" imgH="431800" progId="Equation.DSMT4">
                  <p:embed/>
                </p:oleObj>
              </mc:Choice>
              <mc:Fallback>
                <p:oleObj name="Equation" r:id="rId4" imgW="2844800" imgH="431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135085"/>
                        <a:ext cx="4046821" cy="6246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4" name="矩形 3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五、实验步骤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508104" y="3061888"/>
            <a:ext cx="30243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注：建议把同一环节在不同参数下的多条响应曲线显示在同一个图中，这样便于比较电路参数的变化对环节特性的影响。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306072" y="4803998"/>
            <a:ext cx="514400" cy="273843"/>
          </a:xfrm>
        </p:spPr>
        <p:txBody>
          <a:bodyPr/>
          <a:lstStyle/>
          <a:p>
            <a:fld id="{D2D75B5F-B1CF-4E91-A04E-D39648BDF170}" type="slidenum">
              <a:rPr lang="en-US" altLang="zh-CN" sz="1200" smtClean="0"/>
              <a:t>23</a:t>
            </a:fld>
            <a:endParaRPr lang="en-US" altLang="zh-CN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8723" y="379497"/>
            <a:ext cx="2424127" cy="492443"/>
            <a:chOff x="251520" y="5246424"/>
            <a:chExt cx="1699958" cy="492443"/>
          </a:xfrm>
        </p:grpSpPr>
        <p:sp>
          <p:nvSpPr>
            <p:cNvPr id="3" name="矩形 2"/>
            <p:cNvSpPr/>
            <p:nvPr/>
          </p:nvSpPr>
          <p:spPr>
            <a:xfrm>
              <a:off x="251520" y="5349930"/>
              <a:ext cx="877164" cy="3240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1523" y="5246424"/>
              <a:ext cx="1699955" cy="49244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六、实验报告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323515" y="1120676"/>
            <a:ext cx="215933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>
              <a:spcAft>
                <a:spcPts val="1200"/>
              </a:spcAft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实验报告要求：</a:t>
            </a:r>
            <a:endParaRPr lang="en-US" altLang="zh-CN" sz="24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1036190" y="1755060"/>
            <a:ext cx="606089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实验目的；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实验任务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要求；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实验仪器、设备及材料；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实验原理；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实验步骤；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实验结果及心得。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 Design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423</Words>
  <Application>Microsoft Office PowerPoint</Application>
  <PresentationFormat>全屏显示(16:9)</PresentationFormat>
  <Paragraphs>86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 Unicode MS</vt:lpstr>
      <vt:lpstr>华文细黑</vt:lpstr>
      <vt:lpstr>宋体</vt:lpstr>
      <vt:lpstr>微软雅黑</vt:lpstr>
      <vt:lpstr>方正中等线简体</vt:lpstr>
      <vt:lpstr>Arial</vt:lpstr>
      <vt:lpstr>Calibri</vt:lpstr>
      <vt:lpstr>Cambria Math</vt:lpstr>
      <vt:lpstr>Helvetica</vt:lpstr>
      <vt:lpstr>Times New Roman</vt:lpstr>
      <vt:lpstr>Verdana</vt:lpstr>
      <vt:lpstr>Wingdings</vt:lpstr>
      <vt:lpstr>Default Design</vt:lpstr>
      <vt:lpstr>自定义设计方案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 能 控 制</dc:title>
  <dc:creator>微软用户</dc:creator>
  <cp:lastModifiedBy>李中华</cp:lastModifiedBy>
  <cp:revision>512</cp:revision>
  <cp:lastPrinted>2022-09-01T02:31:00Z</cp:lastPrinted>
  <dcterms:created xsi:type="dcterms:W3CDTF">2009-07-20T06:04:00Z</dcterms:created>
  <dcterms:modified xsi:type="dcterms:W3CDTF">2026-09-15T11:07:41Z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872C2A32ADFD413696FE44056DA12703</vt:lpwstr>
  </property>
</Properties>
</file>
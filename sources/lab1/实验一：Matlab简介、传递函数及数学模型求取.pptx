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3"/>
  </p:sldMasterIdLst>
  <p:notesMasterIdLst>
    <p:notesMasterId r:id="rId48"/>
  </p:notesMasterIdLst>
  <p:sldIdLst>
    <p:sldId id="561" r:id="rId4"/>
    <p:sldId id="543" r:id="rId5"/>
    <p:sldId id="544" r:id="rId6"/>
    <p:sldId id="545" r:id="rId7"/>
    <p:sldId id="546" r:id="rId8"/>
    <p:sldId id="442" r:id="rId9"/>
    <p:sldId id="448" r:id="rId10"/>
    <p:sldId id="547" r:id="rId11"/>
    <p:sldId id="548" r:id="rId12"/>
    <p:sldId id="485" r:id="rId13"/>
    <p:sldId id="549" r:id="rId14"/>
    <p:sldId id="550" r:id="rId15"/>
    <p:sldId id="551" r:id="rId16"/>
    <p:sldId id="552" r:id="rId17"/>
    <p:sldId id="553" r:id="rId18"/>
    <p:sldId id="486" r:id="rId19"/>
    <p:sldId id="472" r:id="rId20"/>
    <p:sldId id="554" r:id="rId21"/>
    <p:sldId id="508" r:id="rId22"/>
    <p:sldId id="509" r:id="rId23"/>
    <p:sldId id="511" r:id="rId24"/>
    <p:sldId id="513" r:id="rId25"/>
    <p:sldId id="514" r:id="rId26"/>
    <p:sldId id="516" r:id="rId27"/>
    <p:sldId id="517" r:id="rId28"/>
    <p:sldId id="519" r:id="rId29"/>
    <p:sldId id="520" r:id="rId30"/>
    <p:sldId id="555" r:id="rId31"/>
    <p:sldId id="521" r:id="rId32"/>
    <p:sldId id="523" r:id="rId33"/>
    <p:sldId id="525" r:id="rId34"/>
    <p:sldId id="526" r:id="rId35"/>
    <p:sldId id="527" r:id="rId36"/>
    <p:sldId id="528" r:id="rId37"/>
    <p:sldId id="529" r:id="rId38"/>
    <p:sldId id="532" r:id="rId39"/>
    <p:sldId id="533" r:id="rId40"/>
    <p:sldId id="534" r:id="rId41"/>
    <p:sldId id="535" r:id="rId42"/>
    <p:sldId id="556" r:id="rId43"/>
    <p:sldId id="557" r:id="rId44"/>
    <p:sldId id="558" r:id="rId45"/>
    <p:sldId id="559" r:id="rId46"/>
    <p:sldId id="560" r:id="rId47"/>
  </p:sldIdLst>
  <p:sldSz cx="9144000" cy="5143500" type="screen16x9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4" userDrawn="1">
          <p15:clr>
            <a:srgbClr val="A4A3A4"/>
          </p15:clr>
        </p15:guide>
        <p15:guide id="2" pos="2877" userDrawn="1">
          <p15:clr>
            <a:srgbClr val="A4A3A4"/>
          </p15:clr>
        </p15:guide>
        <p15:guide id="3" orient="horz" pos="1575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 Zhonghua" initials="LZ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956" autoAdjust="0"/>
    <p:restoredTop sz="94660"/>
  </p:normalViewPr>
  <p:slideViewPr>
    <p:cSldViewPr showGuides="1">
      <p:cViewPr>
        <p:scale>
          <a:sx n="136" d="100"/>
          <a:sy n="136" d="100"/>
        </p:scale>
        <p:origin x="1336" y="576"/>
      </p:cViewPr>
      <p:guideLst>
        <p:guide orient="horz" pos="2164"/>
        <p:guide pos="2877"/>
        <p:guide orient="horz" pos="1575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2" Type="http://schemas.openxmlformats.org/officeDocument/2006/relationships/commentAuthors" Target="commentAuthors.xml"/><Relationship Id="rId51" Type="http://schemas.openxmlformats.org/officeDocument/2006/relationships/tableStyles" Target="tableStyles.xml"/><Relationship Id="rId50" Type="http://schemas.openxmlformats.org/officeDocument/2006/relationships/viewProps" Target="viewProps.xml"/><Relationship Id="rId5" Type="http://schemas.openxmlformats.org/officeDocument/2006/relationships/slide" Target="slides/slide2.xml"/><Relationship Id="rId49" Type="http://schemas.openxmlformats.org/officeDocument/2006/relationships/presProps" Target="presProps.xml"/><Relationship Id="rId48" Type="http://schemas.openxmlformats.org/officeDocument/2006/relationships/notesMaster" Target="notesMasters/notesMaster1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31.wmf"/><Relationship Id="rId1" Type="http://schemas.openxmlformats.org/officeDocument/2006/relationships/image" Target="../media/image30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55.wmf"/><Relationship Id="rId1" Type="http://schemas.openxmlformats.org/officeDocument/2006/relationships/image" Target="../media/image54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9.wmf"/><Relationship Id="rId1" Type="http://schemas.openxmlformats.org/officeDocument/2006/relationships/image" Target="../media/image58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61.wmf"/><Relationship Id="rId1" Type="http://schemas.openxmlformats.org/officeDocument/2006/relationships/image" Target="../media/image60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DF49745B-86D1-4364-8211-602611735F61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047D2384-817E-4543-892F-F8BE09FB108D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pPr algn="ctr" eaLnBrk="0" hangingPunct="0">
              <a:defRPr/>
            </a:pPr>
            <a:endParaRPr lang="en-US" altLang="zh-CN" b="1" dirty="0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pPr algn="ctr" eaLnBrk="0" hangingPunct="0">
              <a:defRPr/>
            </a:pPr>
            <a:endParaRPr lang="en-US" altLang="zh-CN" b="1" dirty="0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324565" y="4683919"/>
            <a:ext cx="279883" cy="276997"/>
          </a:xfr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>
            <a:lvl1pPr>
              <a:defRPr lang="en-US" altLang="zh-CN" smtClean="0"/>
            </a:lvl1pPr>
          </a:lstStyle>
          <a:p>
            <a:pPr fontAlgn="auto" hangingPunct="0">
              <a:spcBef>
                <a:spcPts val="0"/>
              </a:spcBef>
              <a:spcAft>
                <a:spcPts val="0"/>
              </a:spcAft>
              <a:buFontTx/>
              <a:buNone/>
            </a:pPr>
            <a:fld id="{05073D58-D4B0-478A-9BC2-FFD39750F949}" type="slidenum">
              <a:rPr/>
            </a:fld>
            <a:endParaRPr lang="zh-CN" altLang="en-US" dirty="0"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fontAlgn="auto" hangingPunct="0">
              <a:spcBef>
                <a:spcPts val="0"/>
              </a:spcBef>
              <a:spcAft>
                <a:spcPts val="0"/>
              </a:spcAft>
            </a:pPr>
            <a:fld id="{86CB4B4D-7CA3-9044-876B-883B54F8677D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306072" y="4803998"/>
            <a:ext cx="514400" cy="273843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1EB0708C-BAB9-4629-971A-74C368D96A58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2D75B5F-B1CF-4E91-A04E-D39648BDF17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首页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lenovo\Desktop\ad09c6c5278e6a8602d5053a941a2be4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969"/>
          <a:stretch>
            <a:fillRect/>
          </a:stretch>
        </p:blipFill>
        <p:spPr bwMode="auto">
          <a:xfrm>
            <a:off x="0" y="-51997"/>
            <a:ext cx="9144000" cy="4339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201723" y="1295498"/>
            <a:ext cx="7772400" cy="600164"/>
          </a:xfrm>
          <a:prstGeom prst="rect">
            <a:avLst/>
          </a:prstGeom>
        </p:spPr>
        <p:txBody>
          <a:bodyPr>
            <a:spAutoFit/>
          </a:bodyPr>
          <a:lstStyle>
            <a:lvl1pPr algn="r">
              <a:defRPr sz="3300" b="1">
                <a:solidFill>
                  <a:schemeClr val="accent6">
                    <a:lumMod val="75000"/>
                  </a:schemeClr>
                </a:solidFill>
                <a:effectLst>
                  <a:glow rad="228600">
                    <a:schemeClr val="bg1">
                      <a:alpha val="90000"/>
                    </a:scheme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基于</a:t>
            </a:r>
            <a:r>
              <a:rPr lang="en-US" altLang="zh-CN" dirty="0"/>
              <a:t>NI ELVIS</a:t>
            </a:r>
            <a:r>
              <a:rPr lang="zh-CN" altLang="en-US" dirty="0"/>
              <a:t>的自控原理实验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2149160"/>
            <a:ext cx="9144000" cy="2994341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5000">
                <a:schemeClr val="bg1"/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TextBox 7"/>
          <p:cNvSpPr txBox="1"/>
          <p:nvPr userDrawn="1"/>
        </p:nvSpPr>
        <p:spPr>
          <a:xfrm>
            <a:off x="7950299" y="3748813"/>
            <a:ext cx="982980" cy="414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2100" b="0" dirty="0">
                <a:latin typeface="方正中等线简体" panose="03000509000000000000" pitchFamily="65" charset="-122"/>
                <a:ea typeface="方正中等线简体" panose="03000509000000000000" pitchFamily="65" charset="-122"/>
              </a:rPr>
              <a:t>李中华</a:t>
            </a:r>
            <a:endParaRPr lang="zh-CN" altLang="en-US" sz="2100" b="0" dirty="0">
              <a:latin typeface="方正中等线简体" panose="03000509000000000000" pitchFamily="65" charset="-122"/>
              <a:ea typeface="方正中等线简体" panose="03000509000000000000" pitchFamily="65" charset="-122"/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6421580" y="4079033"/>
            <a:ext cx="2506345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1500" i="0" dirty="0">
                <a:solidFill>
                  <a:srgbClr val="00B0F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lizhongh@mail.sysu.edu.cn</a:t>
            </a:r>
            <a:endParaRPr lang="en-US" altLang="zh-CN" sz="1500" i="0" dirty="0">
              <a:solidFill>
                <a:srgbClr val="00B0F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algn="r"/>
            <a:r>
              <a:rPr lang="en-US" altLang="zh-CN" sz="1500" i="0" dirty="0">
                <a:solidFill>
                  <a:srgbClr val="00B0F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Office: </a:t>
            </a:r>
            <a:r>
              <a:rPr lang="zh-CN" altLang="en-US" sz="1500" i="0" dirty="0">
                <a:solidFill>
                  <a:srgbClr val="00B0F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工学园</a:t>
            </a:r>
            <a:r>
              <a:rPr lang="en-US" altLang="zh-CN" sz="1500" i="0" dirty="0">
                <a:solidFill>
                  <a:srgbClr val="00B0F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1-708</a:t>
            </a:r>
            <a:endParaRPr lang="zh-CN" altLang="en-US" sz="1500" i="0" dirty="0">
              <a:solidFill>
                <a:srgbClr val="00B0F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14" name="直接连接符 13"/>
          <p:cNvCxnSpPr/>
          <p:nvPr userDrawn="1"/>
        </p:nvCxnSpPr>
        <p:spPr>
          <a:xfrm flipH="1">
            <a:off x="5632529" y="4100465"/>
            <a:ext cx="3246108" cy="0"/>
          </a:xfrm>
          <a:prstGeom prst="line">
            <a:avLst/>
          </a:prstGeom>
          <a:ln w="38100" cmpd="sng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 userDrawn="1"/>
        </p:nvSpPr>
        <p:spPr>
          <a:xfrm>
            <a:off x="5818392" y="33468"/>
            <a:ext cx="3244799" cy="300082"/>
          </a:xfrm>
          <a:prstGeom prst="rect">
            <a:avLst/>
          </a:prstGeom>
          <a:solidFill>
            <a:srgbClr val="00B0F0">
              <a:alpha val="50196"/>
            </a:srgb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35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ISE356</a:t>
            </a:r>
            <a:r>
              <a:rPr lang="en-US" altLang="zh-CN" sz="1350" b="0" i="0" u="none" strike="noStrike" kern="1200" baseline="0" dirty="0">
                <a:solidFill>
                  <a:schemeClr val="bg1"/>
                </a:solidFill>
                <a:effectLst/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, Experiment of Automatic Control</a:t>
            </a:r>
            <a:endParaRPr lang="zh-CN" altLang="en-US" sz="1350" b="0" i="0" u="none" strike="noStrike" kern="1200" baseline="0" dirty="0">
              <a:solidFill>
                <a:schemeClr val="bg1"/>
              </a:solidFill>
              <a:effectLst/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.xml"/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457200" y="69055"/>
            <a:ext cx="8229600" cy="1131095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r>
              <a:rPr dirty="0" err="1"/>
              <a:t>标题文本</a:t>
            </a:r>
            <a:endParaRPr dirty="0"/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224676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lvl="0" indent="0" fontAlgn="auto" hangingPunct="0">
              <a:spcBef>
                <a:spcPts val="0"/>
              </a:spcBef>
              <a:buSzTx/>
              <a:buNone/>
            </a:pPr>
            <a:r>
              <a:t>正文级别 1</a:t>
            </a:r>
          </a:p>
          <a:p>
            <a:pPr marL="457200" lvl="1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</a:pPr>
            <a:r>
              <a:t>正文级别 2</a:t>
            </a:r>
          </a:p>
          <a:p>
            <a:pPr marL="914400" lvl="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</a:pPr>
            <a:r>
              <a:t>正文级别 3</a:t>
            </a:r>
          </a:p>
          <a:p>
            <a:pPr marL="1371600" lvl="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</a:pPr>
            <a:r>
              <a:t>正文级别 4</a:t>
            </a:r>
          </a:p>
          <a:p>
            <a:pPr marL="1828800" lvl="4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</a:pPr>
            <a:r>
              <a:t>正文级别 5</a:t>
            </a:r>
          </a:p>
        </p:txBody>
      </p:sp>
      <p:sp>
        <p:nvSpPr>
          <p:cNvPr id="4" name="Shape 4"/>
          <p:cNvSpPr>
            <a:spLocks noGrp="1"/>
          </p:cNvSpPr>
          <p:nvPr>
            <p:ph type="sldNum" sz="quarter" idx="2"/>
          </p:nvPr>
        </p:nvSpPr>
        <p:spPr>
          <a:xfrm>
            <a:off x="8384893" y="4683919"/>
            <a:ext cx="279883" cy="276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>
            <a:lvl1pPr>
              <a:defRPr lang="en-US" altLang="zh-CN" sz="1200" b="1" smtClean="0">
                <a:solidFill>
                  <a:prstClr val="black">
                    <a:tint val="75000"/>
                  </a:prst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 panose="020B0604020202020204"/>
              </a:defRPr>
            </a:lvl1pPr>
          </a:lstStyle>
          <a:p>
            <a:pPr fontAlgn="auto" hangingPunct="0">
              <a:spcBef>
                <a:spcPts val="0"/>
              </a:spcBef>
              <a:spcAft>
                <a:spcPts val="0"/>
              </a:spcAft>
            </a:pPr>
            <a:fld id="{86CB4B4D-7CA3-9044-876B-883B54F8677D}" type="slidenum">
              <a:rPr lang="en-US" altLang="zh-CN" smtClean="0"/>
            </a:fld>
            <a:endParaRPr lang="zh-CN" altLang="en-US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8460432" y="4677984"/>
            <a:ext cx="504056" cy="276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fontAlgn="auto" hangingPunct="0">
              <a:spcBef>
                <a:spcPts val="0"/>
              </a:spcBef>
              <a:spcAft>
                <a:spcPts val="0"/>
              </a:spcAft>
            </a:pPr>
            <a:r>
              <a:rPr lang="en-US" altLang="zh-CN" sz="1200" b="1" dirty="0">
                <a:solidFill>
                  <a:prstClr val="black">
                    <a:tint val="7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/51</a:t>
            </a:r>
            <a:endParaRPr lang="zh-CN" altLang="en-US" sz="1200" b="1" dirty="0">
              <a:solidFill>
                <a:prstClr val="black">
                  <a:tint val="7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 spd="med"/>
  <p:hf hdr="0" dt="0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Arial" panose="020B0604020202020204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Arial" panose="020B0604020202020204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Arial" panose="020B0604020202020204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Arial" panose="020B0604020202020204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Arial" panose="020B0604020202020204"/>
        </a:defRPr>
      </a:lvl5pPr>
      <a:lvl6pPr marL="0" marR="0" indent="4572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Arial" panose="020B0604020202020204"/>
        </a:defRPr>
      </a:lvl6pPr>
      <a:lvl7pPr marL="0" marR="0" indent="9144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Arial" panose="020B0604020202020204"/>
        </a:defRPr>
      </a:lvl7pPr>
      <a:lvl8pPr marL="0" marR="0" indent="13716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Arial" panose="020B0604020202020204"/>
        </a:defRPr>
      </a:lvl8pPr>
      <a:lvl9pPr marL="0" marR="0" indent="18288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Arial" panose="020B0604020202020204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»"/>
        <a:defRPr sz="1200" b="1" i="0" u="none" strike="noStrike" kern="1200" cap="none" spc="0" baseline="0">
          <a:ln>
            <a:noFill/>
          </a:ln>
          <a:solidFill>
            <a:prstClr val="black">
              <a:tint val="75000"/>
            </a:prstClr>
          </a:solidFill>
          <a:uFillTx/>
          <a:latin typeface="+mn-ea"/>
          <a:ea typeface="+mn-ea"/>
          <a:cs typeface="+mn-cs"/>
          <a:sym typeface="Arial" panose="020B0604020202020204"/>
        </a:defRPr>
      </a:lvl1pPr>
      <a:lvl2pPr marL="783590" marR="0" indent="-32639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–"/>
        <a:defRPr sz="3200" b="0" i="0" u="none" strike="noStrike" kern="1200" cap="none" spc="0" baseline="0">
          <a:ln>
            <a:noFill/>
          </a:ln>
          <a:solidFill>
            <a:schemeClr val="tx1"/>
          </a:solidFill>
          <a:uFillTx/>
          <a:latin typeface="Arial" panose="020B0604020202020204" pitchFamily="34" charset="0"/>
          <a:ea typeface="宋体" panose="02010600030101010101" pitchFamily="2" charset="-122"/>
          <a:cs typeface="+mn-cs"/>
          <a:sym typeface="Arial" panose="020B0604020202020204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•"/>
        <a:defRPr sz="3200" b="0" i="0" u="none" strike="noStrike" kern="1200" cap="none" spc="0" baseline="0">
          <a:ln>
            <a:noFill/>
          </a:ln>
          <a:solidFill>
            <a:schemeClr val="tx1"/>
          </a:solidFill>
          <a:uFillTx/>
          <a:latin typeface="Arial" panose="020B0604020202020204" pitchFamily="34" charset="0"/>
          <a:ea typeface="宋体" panose="02010600030101010101" pitchFamily="2" charset="-122"/>
          <a:cs typeface="+mn-cs"/>
          <a:sym typeface="Arial" panose="020B0604020202020204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–"/>
        <a:defRPr sz="3200" b="0" i="0" u="none" strike="noStrike" kern="1200" cap="none" spc="0" baseline="0">
          <a:ln>
            <a:noFill/>
          </a:ln>
          <a:solidFill>
            <a:schemeClr val="tx1"/>
          </a:solidFill>
          <a:uFillTx/>
          <a:latin typeface="Arial" panose="020B0604020202020204" pitchFamily="34" charset="0"/>
          <a:ea typeface="宋体" panose="02010600030101010101" pitchFamily="2" charset="-122"/>
          <a:cs typeface="+mn-cs"/>
          <a:sym typeface="Arial" panose="020B0604020202020204"/>
        </a:defRPr>
      </a:lvl4pPr>
      <a:lvl5pPr marL="2235200" marR="0" indent="-4064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»"/>
        <a:defRPr sz="3200" b="0" i="0" u="none" strike="noStrike" kern="1200" cap="none" spc="0" baseline="0">
          <a:ln>
            <a:noFill/>
          </a:ln>
          <a:solidFill>
            <a:schemeClr val="tx1"/>
          </a:solidFill>
          <a:uFillTx/>
          <a:latin typeface="Arial" panose="020B0604020202020204" pitchFamily="34" charset="0"/>
          <a:ea typeface="宋体" panose="02010600030101010101" pitchFamily="2" charset="-122"/>
          <a:cs typeface="+mn-cs"/>
          <a:sym typeface="Arial" panose="020B0604020202020204"/>
        </a:defRPr>
      </a:lvl5pPr>
      <a:lvl6pPr marL="2692400" marR="0" indent="-4064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Arial" panose="020B0604020202020204"/>
        </a:defRPr>
      </a:lvl6pPr>
      <a:lvl7pPr marL="3149600" marR="0" indent="-4064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Arial" panose="020B0604020202020204"/>
        </a:defRPr>
      </a:lvl7pPr>
      <a:lvl8pPr marL="3606800" marR="0" indent="-4064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Arial" panose="020B0604020202020204"/>
        </a:defRPr>
      </a:lvl8pPr>
      <a:lvl9pPr marL="4064000" marR="0" indent="-4064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Arial" panose="020B0604020202020204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hangingPunct="0"/>
            <a:endParaRPr lang="zh-CN" altLang="en-US" b="1">
              <a:solidFill>
                <a:prstClr val="black">
                  <a:tint val="75000"/>
                </a:prstClr>
              </a:solidFill>
              <a:latin typeface="Verdana" panose="020B060403050404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hangingPunct="0"/>
            <a:endParaRPr lang="zh-CN" altLang="en-US" b="1">
              <a:solidFill>
                <a:prstClr val="black">
                  <a:tint val="75000"/>
                </a:prstClr>
              </a:solidFill>
              <a:latin typeface="Verdana" panose="020B0604030504040204" pitchFamily="34" charset="0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8532440" y="4802594"/>
            <a:ext cx="504056" cy="276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fontAlgn="auto" hangingPunct="0">
              <a:spcBef>
                <a:spcPts val="0"/>
              </a:spcBef>
              <a:spcAft>
                <a:spcPts val="0"/>
              </a:spcAft>
            </a:pPr>
            <a:r>
              <a:rPr lang="en-US" altLang="zh-CN" sz="1200" b="1" dirty="0">
                <a:solidFill>
                  <a:prstClr val="black">
                    <a:tint val="7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/51</a:t>
            </a:r>
            <a:endParaRPr lang="zh-CN" altLang="en-US" sz="1200" b="1" dirty="0">
              <a:solidFill>
                <a:prstClr val="black">
                  <a:tint val="7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</p:txBody>
      </p:sp>
      <p:cxnSp>
        <p:nvCxnSpPr>
          <p:cNvPr id="6" name="直接连接符 2"/>
          <p:cNvCxnSpPr/>
          <p:nvPr userDrawn="1"/>
        </p:nvCxnSpPr>
        <p:spPr>
          <a:xfrm>
            <a:off x="0" y="947956"/>
            <a:ext cx="9144000" cy="0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/>
          <p:cNvGrpSpPr/>
          <p:nvPr userDrawn="1"/>
        </p:nvGrpSpPr>
        <p:grpSpPr>
          <a:xfrm>
            <a:off x="58723" y="379497"/>
            <a:ext cx="2424127" cy="492443"/>
            <a:chOff x="251520" y="5246424"/>
            <a:chExt cx="1699958" cy="492443"/>
          </a:xfrm>
        </p:grpSpPr>
        <p:sp>
          <p:nvSpPr>
            <p:cNvPr id="8" name="矩形 7"/>
            <p:cNvSpPr/>
            <p:nvPr/>
          </p:nvSpPr>
          <p:spPr>
            <a:xfrm>
              <a:off x="251520" y="5349930"/>
              <a:ext cx="877164" cy="324036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TextBox 4"/>
            <p:cNvSpPr txBox="1"/>
            <p:nvPr/>
          </p:nvSpPr>
          <p:spPr>
            <a:xfrm>
              <a:off x="251523" y="5246424"/>
              <a:ext cx="1699955" cy="49244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26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7.wmf"/><Relationship Id="rId1" Type="http://schemas.openxmlformats.org/officeDocument/2006/relationships/oleObject" Target="../embeddings/oleObject1.bin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8.png"/><Relationship Id="rId1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.vml"/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17.wmf"/><Relationship Id="rId3" Type="http://schemas.openxmlformats.org/officeDocument/2006/relationships/oleObject" Target="../embeddings/oleObject3.bin"/><Relationship Id="rId2" Type="http://schemas.openxmlformats.org/officeDocument/2006/relationships/image" Target="../media/image16.wmf"/><Relationship Id="rId1" Type="http://schemas.openxmlformats.org/officeDocument/2006/relationships/oleObject" Target="../embeddings/oleObject2.bin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3.v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20.png"/><Relationship Id="rId2" Type="http://schemas.openxmlformats.org/officeDocument/2006/relationships/image" Target="../media/image19.wmf"/><Relationship Id="rId1" Type="http://schemas.openxmlformats.org/officeDocument/2006/relationships/oleObject" Target="../embeddings/oleObject5.bin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4.v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22.png"/><Relationship Id="rId2" Type="http://schemas.openxmlformats.org/officeDocument/2006/relationships/image" Target="../media/image21.wmf"/><Relationship Id="rId1" Type="http://schemas.openxmlformats.org/officeDocument/2006/relationships/oleObject" Target="../embeddings/oleObject6.bin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5.vml"/><Relationship Id="rId8" Type="http://schemas.openxmlformats.org/officeDocument/2006/relationships/slideLayout" Target="../slideLayouts/slideLayout3.xml"/><Relationship Id="rId7" Type="http://schemas.openxmlformats.org/officeDocument/2006/relationships/image" Target="../media/image26.png"/><Relationship Id="rId6" Type="http://schemas.openxmlformats.org/officeDocument/2006/relationships/image" Target="../media/image25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24.wmf"/><Relationship Id="rId3" Type="http://schemas.openxmlformats.org/officeDocument/2006/relationships/oleObject" Target="../embeddings/oleObject8.bin"/><Relationship Id="rId2" Type="http://schemas.openxmlformats.org/officeDocument/2006/relationships/image" Target="../media/image23.wmf"/><Relationship Id="rId1" Type="http://schemas.openxmlformats.org/officeDocument/2006/relationships/oleObject" Target="../embeddings/oleObject7.bin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6.v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28.png"/><Relationship Id="rId2" Type="http://schemas.openxmlformats.org/officeDocument/2006/relationships/image" Target="../media/image27.wmf"/><Relationship Id="rId1" Type="http://schemas.openxmlformats.org/officeDocument/2006/relationships/oleObject" Target="../embeddings/oleObject10.bin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7.v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9.wmf"/><Relationship Id="rId1" Type="http://schemas.openxmlformats.org/officeDocument/2006/relationships/oleObject" Target="../embeddings/oleObject11.bin"/></Relationships>
</file>

<file path=ppt/slides/_rels/slide25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8.vml"/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32.png"/><Relationship Id="rId4" Type="http://schemas.openxmlformats.org/officeDocument/2006/relationships/image" Target="../media/image31.wmf"/><Relationship Id="rId3" Type="http://schemas.openxmlformats.org/officeDocument/2006/relationships/oleObject" Target="../embeddings/oleObject13.bin"/><Relationship Id="rId2" Type="http://schemas.openxmlformats.org/officeDocument/2006/relationships/image" Target="../media/image30.wmf"/><Relationship Id="rId1" Type="http://schemas.openxmlformats.org/officeDocument/2006/relationships/oleObject" Target="../embeddings/oleObject12.bin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3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4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38.png"/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30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9.v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41.png"/><Relationship Id="rId3" Type="http://schemas.openxmlformats.org/officeDocument/2006/relationships/image" Target="../media/image40.png"/><Relationship Id="rId2" Type="http://schemas.openxmlformats.org/officeDocument/2006/relationships/image" Target="../media/image39.wmf"/><Relationship Id="rId1" Type="http://schemas.openxmlformats.org/officeDocument/2006/relationships/oleObject" Target="../embeddings/oleObject14.bin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2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45.png"/><Relationship Id="rId1" Type="http://schemas.openxmlformats.org/officeDocument/2006/relationships/image" Target="../media/image4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47.png"/><Relationship Id="rId1" Type="http://schemas.openxmlformats.org/officeDocument/2006/relationships/image" Target="../media/image46.png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image" Target="../media/image48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53.png"/><Relationship Id="rId1" Type="http://schemas.openxmlformats.org/officeDocument/2006/relationships/image" Target="../media/image52.png"/></Relationships>
</file>

<file path=ppt/slides/_rels/slide38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0.v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55.wmf"/><Relationship Id="rId3" Type="http://schemas.openxmlformats.org/officeDocument/2006/relationships/oleObject" Target="../embeddings/oleObject16.bin"/><Relationship Id="rId2" Type="http://schemas.openxmlformats.org/officeDocument/2006/relationships/image" Target="../media/image54.wmf"/><Relationship Id="rId1" Type="http://schemas.openxmlformats.org/officeDocument/2006/relationships/oleObject" Target="../embeddings/oleObject15.bin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57.png"/><Relationship Id="rId1" Type="http://schemas.openxmlformats.org/officeDocument/2006/relationships/image" Target="../media/image56.png"/></Relationships>
</file>

<file path=ppt/slides/_rels/slide40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1.v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59.wmf"/><Relationship Id="rId3" Type="http://schemas.openxmlformats.org/officeDocument/2006/relationships/oleObject" Target="../embeddings/oleObject18.bin"/><Relationship Id="rId2" Type="http://schemas.openxmlformats.org/officeDocument/2006/relationships/image" Target="../media/image58.wmf"/><Relationship Id="rId1" Type="http://schemas.openxmlformats.org/officeDocument/2006/relationships/oleObject" Target="../embeddings/oleObject17.bin"/></Relationships>
</file>

<file path=ppt/slides/_rels/slide41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2.v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61.wmf"/><Relationship Id="rId3" Type="http://schemas.openxmlformats.org/officeDocument/2006/relationships/oleObject" Target="../embeddings/oleObject20.bin"/><Relationship Id="rId2" Type="http://schemas.openxmlformats.org/officeDocument/2006/relationships/image" Target="../media/image60.wmf"/><Relationship Id="rId1" Type="http://schemas.openxmlformats.org/officeDocument/2006/relationships/oleObject" Target="../embeddings/oleObject19.bin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62.png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3.v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63.wmf"/><Relationship Id="rId1" Type="http://schemas.openxmlformats.org/officeDocument/2006/relationships/oleObject" Target="../embeddings/oleObject21.bin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508407" y="1833332"/>
            <a:ext cx="7335556" cy="1223412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r>
              <a:rPr lang="zh-CN" altLang="en-US" sz="37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6">
                    <a:lumMod val="75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实验一：</a:t>
            </a:r>
            <a:r>
              <a:rPr lang="en-GB" altLang="zh-CN" sz="375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6">
                    <a:lumMod val="75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Matlab</a:t>
            </a:r>
            <a:r>
              <a:rPr lang="zh-CN" altLang="en-US" sz="37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6">
                    <a:lumMod val="75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简介、传递函数及数学模型求取</a:t>
            </a:r>
            <a:endParaRPr lang="zh-CN" altLang="en-US" sz="37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6">
                  <a:lumMod val="75000"/>
                </a:schemeClr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58727" y="379497"/>
            <a:ext cx="2424123" cy="49244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6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一、实验目的</a:t>
            </a:r>
            <a:endParaRPr lang="zh-CN" altLang="en-US" sz="2600" b="1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61157" y="1198993"/>
            <a:ext cx="7395219" cy="17235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spcAft>
                <a:spcPts val="1200"/>
              </a:spcAft>
              <a:buFont typeface="+mj-lt"/>
              <a:buAutoNum type="alphaUcPeriod"/>
            </a:pPr>
            <a:r>
              <a:rPr lang="zh-CN" altLang="en-US" sz="2400" b="1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熟悉</a:t>
            </a:r>
            <a:r>
              <a:rPr lang="en-GB" altLang="zh-CN" sz="2400" b="1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MATLAB</a:t>
            </a:r>
            <a:r>
              <a:rPr lang="zh-CN" altLang="en-US" sz="2400" b="1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实验环境，掌握</a:t>
            </a:r>
            <a:r>
              <a:rPr lang="en-GB" altLang="zh-CN" sz="2400" b="1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MATLAB</a:t>
            </a:r>
            <a:r>
              <a:rPr lang="zh-CN" altLang="en-US" sz="2400" b="1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命令行窗口的基本操作。</a:t>
            </a:r>
            <a:endParaRPr lang="en-US" altLang="zh-CN" sz="2400" b="1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indent="-457200" algn="just">
              <a:spcAft>
                <a:spcPts val="1200"/>
              </a:spcAft>
              <a:buFont typeface="+mj-lt"/>
              <a:buAutoNum type="alphaUcPeriod"/>
            </a:pPr>
            <a:r>
              <a:rPr lang="zh-CN" altLang="en-US" sz="2400" b="1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掌握</a:t>
            </a:r>
            <a:r>
              <a:rPr lang="en-GB" altLang="zh-CN" sz="2400" b="1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MATLAB</a:t>
            </a:r>
            <a:r>
              <a:rPr lang="zh-CN" altLang="en-US" sz="2400" b="1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建立控制系统数学模型的命令及模型相互转换的方法。</a:t>
            </a:r>
            <a:endParaRPr lang="en-US" altLang="zh-CN" sz="2400" b="1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"/>
          <p:cNvSpPr txBox="1"/>
          <p:nvPr/>
        </p:nvSpPr>
        <p:spPr>
          <a:xfrm>
            <a:off x="58727" y="379497"/>
            <a:ext cx="2424123" cy="49244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6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二、实验任务</a:t>
            </a:r>
            <a:endParaRPr lang="zh-CN" altLang="en-US" sz="2600" b="1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62106" y="1130914"/>
            <a:ext cx="11412613" cy="11617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algn="just">
              <a:lnSpc>
                <a:spcPct val="130000"/>
              </a:lnSpc>
              <a:spcAft>
                <a:spcPts val="1200"/>
              </a:spcAft>
              <a:buAutoNum type="arabicParenBoth"/>
            </a:pPr>
            <a:r>
              <a:rPr lang="zh-CN" altLang="en-US" sz="24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编写</a:t>
            </a:r>
            <a:r>
              <a:rPr lang="en-GB" altLang="zh-CN" sz="24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en-US" sz="24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文件程序，建立控制系统的数学模型；</a:t>
            </a:r>
            <a:endParaRPr lang="zh-CN" altLang="en-US" sz="2400" b="1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lvl="0" indent="-457200" algn="just">
              <a:lnSpc>
                <a:spcPct val="130000"/>
              </a:lnSpc>
              <a:spcAft>
                <a:spcPts val="1200"/>
              </a:spcAft>
              <a:buAutoNum type="arabicParenBoth"/>
            </a:pPr>
            <a:r>
              <a:rPr lang="zh-CN" altLang="en-US" sz="2400" b="1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编写</a:t>
            </a:r>
            <a:r>
              <a:rPr lang="en-US" altLang="zh-CN" sz="2400" b="1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zh-CN" altLang="en-US" sz="2400" b="1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文件程序，实现控制系统不同数学模型之间的转换。</a:t>
            </a:r>
            <a:endParaRPr lang="en-US" altLang="zh-CN" sz="2400" b="1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"/>
          <p:cNvSpPr txBox="1"/>
          <p:nvPr/>
        </p:nvSpPr>
        <p:spPr>
          <a:xfrm>
            <a:off x="58727" y="379497"/>
            <a:ext cx="2424123" cy="49244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6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三、实验仪器</a:t>
            </a:r>
            <a:endParaRPr lang="zh-CN" altLang="en-US" sz="2600" b="1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3" name="Group 5"/>
          <p:cNvGrpSpPr/>
          <p:nvPr/>
        </p:nvGrpSpPr>
        <p:grpSpPr>
          <a:xfrm>
            <a:off x="1412600" y="1480053"/>
            <a:ext cx="2295304" cy="1811777"/>
            <a:chOff x="9210261" y="1750153"/>
            <a:chExt cx="2295304" cy="1811777"/>
          </a:xfrm>
        </p:grpSpPr>
        <p:pic>
          <p:nvPicPr>
            <p:cNvPr id="4" name="Picture 2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9210261" y="1750153"/>
              <a:ext cx="2295304" cy="1811777"/>
            </a:xfrm>
            <a:prstGeom prst="rect">
              <a:avLst/>
            </a:prstGeom>
          </p:spPr>
        </p:pic>
        <p:sp>
          <p:nvSpPr>
            <p:cNvPr id="5" name="Rectangle 2"/>
            <p:cNvSpPr/>
            <p:nvPr/>
          </p:nvSpPr>
          <p:spPr>
            <a:xfrm>
              <a:off x="9680713" y="2199861"/>
              <a:ext cx="1391478" cy="4561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>
                  <a:solidFill>
                    <a:schemeClr val="tx1"/>
                  </a:solidFill>
                </a:rPr>
                <a:t>实验室电脑</a:t>
              </a:r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2118695" y="3640457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+mn-ea"/>
              </a:rPr>
              <a:t>计算机</a:t>
            </a:r>
            <a:endParaRPr kumimoji="1" lang="zh-CN" altLang="en-US" dirty="0"/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6010" y="1687707"/>
            <a:ext cx="2452334" cy="1532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文本框 7"/>
          <p:cNvSpPr txBox="1"/>
          <p:nvPr/>
        </p:nvSpPr>
        <p:spPr>
          <a:xfrm>
            <a:off x="5720468" y="3640457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latin typeface="+mn-ea"/>
              </a:rPr>
              <a:t>Matlab</a:t>
            </a:r>
            <a:r>
              <a:rPr lang="zh-CN" altLang="en-US" dirty="0">
                <a:latin typeface="+mn-ea"/>
              </a:rPr>
              <a:t>软件平台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539552" y="1707654"/>
            <a:ext cx="8352928" cy="2538644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10000"/>
              </a:lnSpc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Matlab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语言是由美国的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Clever 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Moler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博士于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1980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年开发的设计者的初衷是为解决“线性代数”课程的矩阵运算问题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MATLAB=</a:t>
            </a:r>
            <a:r>
              <a:rPr lang="en-US" altLang="zh-CN" sz="2000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Mat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rix </a:t>
            </a:r>
            <a:r>
              <a:rPr lang="en-US" altLang="zh-CN" sz="2000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Lab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oratory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，矩阵实验室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lnSpc>
                <a:spcPct val="140000"/>
              </a:lnSpc>
              <a:spcAft>
                <a:spcPts val="0"/>
              </a:spcAft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Matlab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将一个优秀软件的易用性与可靠性、通用性与专业性 、一般目的的应用与高深的科学技术应用有机的相结合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lnSpc>
                <a:spcPct val="140000"/>
              </a:lnSpc>
              <a:spcAft>
                <a:spcPts val="0"/>
              </a:spcAft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MATLAB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是一种直译式的高级语言，比其它程序设计语言容易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TextBox 4"/>
          <p:cNvSpPr txBox="1"/>
          <p:nvPr/>
        </p:nvSpPr>
        <p:spPr>
          <a:xfrm>
            <a:off x="58727" y="379497"/>
            <a:ext cx="2424123" cy="49244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6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四、实验原理</a:t>
            </a:r>
            <a:endParaRPr lang="zh-CN" altLang="en-US" sz="2600" b="1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93637" y="1114041"/>
            <a:ext cx="872928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n-GB" altLang="zh-CN" sz="2400" b="1" kern="100" dirty="0">
                <a:solidFill>
                  <a:srgbClr val="0070C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MATLAB</a:t>
            </a:r>
            <a:r>
              <a:rPr lang="zh-CN" altLang="en-US" sz="2400" b="1" kern="100" dirty="0">
                <a:solidFill>
                  <a:srgbClr val="0070C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简介</a:t>
            </a:r>
            <a:endParaRPr lang="en-US" altLang="zh-CN" sz="2400" b="1" kern="100" dirty="0">
              <a:solidFill>
                <a:srgbClr val="0070C0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2"/>
          <p:cNvSpPr txBox="1">
            <a:spLocks noChangeArrowheads="1"/>
          </p:cNvSpPr>
          <p:nvPr/>
        </p:nvSpPr>
        <p:spPr bwMode="auto">
          <a:xfrm>
            <a:off x="765531" y="1703263"/>
            <a:ext cx="8147248" cy="32535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285750" indent="-285750" algn="just" eaLnBrk="1" hangingPunct="1">
              <a:lnSpc>
                <a:spcPct val="130000"/>
              </a:lnSpc>
              <a:spcBef>
                <a:spcPct val="20000"/>
              </a:spcBef>
              <a:buFont typeface="Wingdings" panose="05000000000000000000" pitchFamily="2" charset="2"/>
              <a:buChar char="p"/>
            </a:pP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MATLAB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主工具箱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just" eaLnBrk="1" hangingPunct="1">
              <a:lnSpc>
                <a:spcPct val="130000"/>
              </a:lnSpc>
              <a:spcBef>
                <a:spcPct val="20000"/>
              </a:spcBef>
              <a:buFont typeface="Wingdings" panose="05000000000000000000" pitchFamily="2" charset="2"/>
              <a:buChar char="p"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符号数学工具箱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just" eaLnBrk="1" hangingPunct="1">
              <a:lnSpc>
                <a:spcPct val="130000"/>
              </a:lnSpc>
              <a:spcBef>
                <a:spcPct val="20000"/>
              </a:spcBef>
              <a:buFont typeface="Wingdings" panose="05000000000000000000" pitchFamily="2" charset="2"/>
              <a:buChar char="p"/>
            </a:pP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SIMULINK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仿真工具箱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just" eaLnBrk="1" hangingPunct="1">
              <a:lnSpc>
                <a:spcPct val="130000"/>
              </a:lnSpc>
              <a:spcBef>
                <a:spcPct val="20000"/>
              </a:spcBef>
              <a:buFont typeface="Wingdings" panose="05000000000000000000" pitchFamily="2" charset="2"/>
              <a:buChar char="p"/>
            </a:pP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控制系统工具箱</a:t>
            </a:r>
            <a:endParaRPr lang="zh-CN" altLang="en-US" sz="1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just" eaLnBrk="1" hangingPunct="1">
              <a:lnSpc>
                <a:spcPct val="130000"/>
              </a:lnSpc>
              <a:spcBef>
                <a:spcPct val="20000"/>
              </a:spcBef>
              <a:buFont typeface="Wingdings" panose="05000000000000000000" pitchFamily="2" charset="2"/>
              <a:buChar char="p"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信号处理工具箱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just" eaLnBrk="1" hangingPunct="1">
              <a:lnSpc>
                <a:spcPct val="130000"/>
              </a:lnSpc>
              <a:spcBef>
                <a:spcPct val="20000"/>
              </a:spcBef>
              <a:buFont typeface="Wingdings" panose="05000000000000000000" pitchFamily="2" charset="2"/>
              <a:buChar char="p"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图象处理工具箱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just" eaLnBrk="1" hangingPunct="1">
              <a:lnSpc>
                <a:spcPct val="130000"/>
              </a:lnSpc>
              <a:spcBef>
                <a:spcPct val="20000"/>
              </a:spcBef>
              <a:buFont typeface="Wingdings" panose="05000000000000000000" pitchFamily="2" charset="2"/>
              <a:buChar char="p"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通讯工具箱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just" eaLnBrk="1" hangingPunct="1">
              <a:lnSpc>
                <a:spcPct val="130000"/>
              </a:lnSpc>
              <a:spcBef>
                <a:spcPct val="20000"/>
              </a:spcBef>
              <a:buFont typeface="Wingdings" panose="05000000000000000000" pitchFamily="2" charset="2"/>
              <a:buChar char="p"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系统辨识工具箱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just" eaLnBrk="1" hangingPunct="1">
              <a:lnSpc>
                <a:spcPct val="130000"/>
              </a:lnSpc>
              <a:spcBef>
                <a:spcPct val="20000"/>
              </a:spcBef>
              <a:buFont typeface="Wingdings" panose="05000000000000000000" pitchFamily="2" charset="2"/>
              <a:buChar char="p"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神经元网络工具箱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just" eaLnBrk="1" hangingPunct="1">
              <a:lnSpc>
                <a:spcPct val="130000"/>
              </a:lnSpc>
              <a:spcBef>
                <a:spcPct val="20000"/>
              </a:spcBef>
              <a:buFont typeface="Wingdings" panose="05000000000000000000" pitchFamily="2" charset="2"/>
              <a:buChar char="p"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金融工具箱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788359" y="1144018"/>
            <a:ext cx="4392488" cy="857250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lnSpc>
                <a:spcPct val="140000"/>
              </a:lnSpc>
              <a:spcAft>
                <a:spcPts val="0"/>
              </a:spcAft>
            </a:pPr>
            <a:endParaRPr lang="zh-CN" altLang="en-US" sz="2800" b="1" dirty="0">
              <a:solidFill>
                <a:srgbClr val="3333CC"/>
              </a:solidFill>
            </a:endParaRPr>
          </a:p>
        </p:txBody>
      </p:sp>
      <p:sp>
        <p:nvSpPr>
          <p:cNvPr id="7" name="椭圆 6"/>
          <p:cNvSpPr/>
          <p:nvPr/>
        </p:nvSpPr>
        <p:spPr>
          <a:xfrm>
            <a:off x="467544" y="2643758"/>
            <a:ext cx="2520280" cy="370710"/>
          </a:xfrm>
          <a:prstGeom prst="ellipse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316416" y="6521698"/>
            <a:ext cx="514400" cy="273843"/>
          </a:xfrm>
        </p:spPr>
        <p:txBody>
          <a:bodyPr/>
          <a:lstStyle/>
          <a:p>
            <a:fld id="{1EB0708C-BAB9-4629-971A-74C368D96A58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TextBox 4"/>
          <p:cNvSpPr txBox="1"/>
          <p:nvPr/>
        </p:nvSpPr>
        <p:spPr>
          <a:xfrm>
            <a:off x="58727" y="379497"/>
            <a:ext cx="2424123" cy="49244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6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四、实验原理</a:t>
            </a:r>
            <a:endParaRPr lang="zh-CN" altLang="en-US" sz="2600" b="1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93637" y="1114041"/>
            <a:ext cx="872928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n-GB" altLang="zh-CN" sz="2400" b="1" kern="100" dirty="0">
                <a:solidFill>
                  <a:srgbClr val="0070C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MATLAB</a:t>
            </a:r>
            <a:r>
              <a:rPr lang="zh-CN" altLang="en-US" sz="2400" b="1" kern="100" dirty="0">
                <a:solidFill>
                  <a:srgbClr val="0070C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工具箱（ </a:t>
            </a:r>
            <a:r>
              <a:rPr lang="en-GB" altLang="zh-CN" sz="2400" b="1" kern="100" dirty="0">
                <a:solidFill>
                  <a:srgbClr val="0070C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Toolbox </a:t>
            </a:r>
            <a:r>
              <a:rPr lang="zh-CN" altLang="en-GB" sz="2400" b="1" kern="100" dirty="0">
                <a:solidFill>
                  <a:srgbClr val="0070C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zh-CN" altLang="en-GB" sz="2400" b="1" kern="100" dirty="0">
              <a:solidFill>
                <a:srgbClr val="0070C0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75B5F-B1CF-4E91-A04E-D39648BDF170}" type="slidenum">
              <a:rPr lang="en-US" altLang="zh-CN" smtClean="0"/>
            </a:fld>
            <a:endParaRPr lang="en-US" altLang="zh-CN"/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55576" y="1817807"/>
            <a:ext cx="7474024" cy="195470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+mn-ea"/>
              </a:rPr>
              <a:t>连续系统设计和离散系统设计</a:t>
            </a:r>
            <a:endParaRPr lang="zh-CN" altLang="en-US" sz="2000" dirty="0">
              <a:latin typeface="+mn-ea"/>
            </a:endParaRPr>
          </a:p>
          <a:p>
            <a:pPr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+mn-ea"/>
              </a:rPr>
              <a:t>状态空间和传递函数以及模型转换</a:t>
            </a:r>
            <a:endParaRPr lang="zh-CN" altLang="en-US" sz="2000" dirty="0">
              <a:latin typeface="+mn-ea"/>
            </a:endParaRPr>
          </a:p>
          <a:p>
            <a:pPr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+mn-ea"/>
              </a:rPr>
              <a:t>时域响应（脉冲响应、阶跃响应、斜坡响应）</a:t>
            </a:r>
            <a:endParaRPr lang="zh-CN" altLang="en-US" sz="2000" dirty="0">
              <a:latin typeface="+mn-ea"/>
            </a:endParaRPr>
          </a:p>
          <a:p>
            <a:pPr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+mn-ea"/>
              </a:rPr>
              <a:t>频域响应（</a:t>
            </a:r>
            <a:r>
              <a:rPr lang="en-US" altLang="zh-CN" sz="2000" dirty="0">
                <a:latin typeface="+mn-ea"/>
              </a:rPr>
              <a:t>Bode</a:t>
            </a:r>
            <a:r>
              <a:rPr lang="zh-CN" altLang="en-US" sz="2000" dirty="0">
                <a:latin typeface="+mn-ea"/>
              </a:rPr>
              <a:t>图、</a:t>
            </a:r>
            <a:r>
              <a:rPr lang="en-US" altLang="zh-CN" sz="2000" dirty="0">
                <a:latin typeface="+mn-ea"/>
              </a:rPr>
              <a:t>Nyquist</a:t>
            </a:r>
            <a:r>
              <a:rPr lang="zh-CN" altLang="en-US" sz="2000" dirty="0">
                <a:latin typeface="+mn-ea"/>
              </a:rPr>
              <a:t>图）</a:t>
            </a:r>
            <a:endParaRPr lang="zh-CN" altLang="en-US" sz="2000" dirty="0">
              <a:latin typeface="+mn-ea"/>
            </a:endParaRPr>
          </a:p>
          <a:p>
            <a:pPr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+mn-ea"/>
              </a:rPr>
              <a:t>根轨迹、极点配置</a:t>
            </a:r>
            <a:endParaRPr lang="zh-CN" altLang="en-US" sz="2000" dirty="0">
              <a:latin typeface="+mn-ea"/>
            </a:endParaRPr>
          </a:p>
        </p:txBody>
      </p:sp>
      <p:sp>
        <p:nvSpPr>
          <p:cNvPr id="3" name="TextBox 4"/>
          <p:cNvSpPr txBox="1"/>
          <p:nvPr/>
        </p:nvSpPr>
        <p:spPr>
          <a:xfrm>
            <a:off x="58727" y="379497"/>
            <a:ext cx="2424123" cy="49244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6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四、实验原理</a:t>
            </a:r>
            <a:endParaRPr lang="zh-CN" altLang="en-US" sz="2600" b="1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93637" y="1114041"/>
            <a:ext cx="872928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zh-CN" altLang="en-US" sz="2400" b="1" kern="100" dirty="0">
                <a:solidFill>
                  <a:srgbClr val="0070C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控制系统工具箱 </a:t>
            </a:r>
            <a:r>
              <a:rPr lang="en-US" altLang="zh-CN" sz="2400" b="1" kern="100" dirty="0">
                <a:solidFill>
                  <a:srgbClr val="0070C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GB" altLang="zh-CN" sz="2400" b="1" kern="100" dirty="0">
                <a:solidFill>
                  <a:srgbClr val="0070C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Control System Toolbox)</a:t>
            </a:r>
            <a:endParaRPr lang="zh-CN" altLang="en-GB" sz="2400" b="1" kern="100" dirty="0">
              <a:solidFill>
                <a:srgbClr val="0070C0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 flipH="1">
            <a:off x="297238" y="2082210"/>
            <a:ext cx="773114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zh-CN" altLang="en-US" sz="2400" dirty="0">
                <a:solidFill>
                  <a:srgbClr val="C00000"/>
                </a:solidFill>
                <a:latin typeface="+mn-ea"/>
                <a:ea typeface="+mn-ea"/>
              </a:rPr>
              <a:t>类似其它高级语言，创建程序代码、保存、调试、运行 （后缀名</a:t>
            </a:r>
            <a:r>
              <a:rPr lang="en-US" altLang="zh-CN" sz="2400" dirty="0">
                <a:solidFill>
                  <a:srgbClr val="C00000"/>
                </a:solidFill>
                <a:latin typeface="+mn-ea"/>
                <a:ea typeface="+mn-ea"/>
              </a:rPr>
              <a:t> .m</a:t>
            </a:r>
            <a:r>
              <a:rPr lang="zh-CN" altLang="en-US" sz="2400" dirty="0">
                <a:solidFill>
                  <a:srgbClr val="C00000"/>
                </a:solidFill>
                <a:latin typeface="+mn-ea"/>
                <a:ea typeface="+mn-ea"/>
              </a:rPr>
              <a:t>）</a:t>
            </a:r>
            <a:endParaRPr lang="en-US" altLang="zh-CN" sz="2400" dirty="0">
              <a:solidFill>
                <a:srgbClr val="C00000"/>
              </a:solidFill>
              <a:latin typeface="+mn-ea"/>
              <a:ea typeface="+mn-ea"/>
            </a:endParaRPr>
          </a:p>
          <a:p>
            <a:endParaRPr lang="en-US" altLang="zh-CN" sz="2400" dirty="0">
              <a:solidFill>
                <a:srgbClr val="C00000"/>
              </a:solidFill>
              <a:latin typeface="+mn-ea"/>
              <a:ea typeface="+mn-ea"/>
            </a:endParaRPr>
          </a:p>
          <a:p>
            <a:r>
              <a:rPr lang="en-US" altLang="zh-CN" sz="2400" dirty="0">
                <a:solidFill>
                  <a:srgbClr val="C00000"/>
                </a:solidFill>
                <a:latin typeface="+mn-ea"/>
                <a:ea typeface="+mn-ea"/>
              </a:rPr>
              <a:t>    </a:t>
            </a:r>
            <a:r>
              <a:rPr lang="zh-CN" altLang="en-US" sz="2400" dirty="0">
                <a:latin typeface="+mn-ea"/>
                <a:ea typeface="+mn-ea"/>
              </a:rPr>
              <a:t>方式：打开</a:t>
            </a:r>
            <a:r>
              <a:rPr lang="en-US" altLang="zh-CN" sz="2400" dirty="0" err="1">
                <a:latin typeface="+mn-ea"/>
                <a:ea typeface="+mn-ea"/>
              </a:rPr>
              <a:t>Matlab</a:t>
            </a:r>
            <a:r>
              <a:rPr lang="en-US" altLang="zh-CN" sz="2400" dirty="0">
                <a:latin typeface="+mn-ea"/>
                <a:ea typeface="+mn-ea"/>
                <a:sym typeface="Wingdings" panose="05000000000000000000" pitchFamily="2" charset="2"/>
              </a:rPr>
              <a:t></a:t>
            </a:r>
            <a:r>
              <a:rPr lang="zh-CN" altLang="en-US" sz="2400" dirty="0">
                <a:latin typeface="+mn-ea"/>
                <a:ea typeface="+mn-ea"/>
                <a:sym typeface="Wingdings" panose="05000000000000000000" pitchFamily="2" charset="2"/>
              </a:rPr>
              <a:t>点击“新建脚本”</a:t>
            </a:r>
            <a:r>
              <a:rPr lang="en-US" altLang="zh-CN" sz="2400" dirty="0">
                <a:latin typeface="+mn-ea"/>
                <a:ea typeface="+mn-ea"/>
              </a:rPr>
              <a:t> </a:t>
            </a:r>
            <a:endParaRPr lang="zh-CN" altLang="en-US" sz="2400" dirty="0">
              <a:latin typeface="+mn-ea"/>
              <a:ea typeface="+mn-ea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56176" y="2715766"/>
            <a:ext cx="2880320" cy="2312876"/>
          </a:xfrm>
          <a:prstGeom prst="rect">
            <a:avLst/>
          </a:prstGeom>
        </p:spPr>
      </p:pic>
      <p:sp>
        <p:nvSpPr>
          <p:cNvPr id="2" name="TextBox 4"/>
          <p:cNvSpPr txBox="1"/>
          <p:nvPr/>
        </p:nvSpPr>
        <p:spPr>
          <a:xfrm>
            <a:off x="58727" y="379497"/>
            <a:ext cx="2424123" cy="49244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6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四、实验原理</a:t>
            </a:r>
            <a:endParaRPr lang="zh-CN" altLang="en-US" sz="2600" b="1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93637" y="1245989"/>
            <a:ext cx="872928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zh-CN" altLang="en-US" sz="2400" b="1" kern="100" dirty="0">
                <a:solidFill>
                  <a:srgbClr val="0070C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自控实验常用的两种</a:t>
            </a:r>
            <a:r>
              <a:rPr lang="en-GB" altLang="zh-CN" sz="2400" b="1" kern="100" dirty="0" err="1">
                <a:solidFill>
                  <a:srgbClr val="0070C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Matlab</a:t>
            </a:r>
            <a:r>
              <a:rPr lang="zh-CN" altLang="en-US" sz="2400" b="1" kern="100" dirty="0">
                <a:solidFill>
                  <a:srgbClr val="0070C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程序处理方式：</a:t>
            </a:r>
            <a:endParaRPr lang="zh-CN" altLang="en-GB" sz="2400" b="1" kern="100" dirty="0">
              <a:solidFill>
                <a:srgbClr val="0070C0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 flipH="1">
            <a:off x="323528" y="2006641"/>
            <a:ext cx="77768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C00000"/>
                </a:solidFill>
                <a:latin typeface="+mn-ea"/>
                <a:ea typeface="+mn-ea"/>
              </a:rPr>
              <a:t>2. </a:t>
            </a:r>
            <a:r>
              <a:rPr lang="zh-CN" altLang="en-US" sz="2400" dirty="0">
                <a:solidFill>
                  <a:srgbClr val="C00000"/>
                </a:solidFill>
                <a:latin typeface="+mn-ea"/>
                <a:ea typeface="+mn-ea"/>
              </a:rPr>
              <a:t>搭建</a:t>
            </a:r>
            <a:r>
              <a:rPr lang="en-US" altLang="zh-CN" sz="2400" dirty="0">
                <a:solidFill>
                  <a:srgbClr val="C00000"/>
                </a:solidFill>
                <a:latin typeface="+mn-ea"/>
                <a:ea typeface="+mn-ea"/>
              </a:rPr>
              <a:t>Simulink</a:t>
            </a:r>
            <a:r>
              <a:rPr lang="zh-CN" altLang="en-US" sz="2400" dirty="0">
                <a:solidFill>
                  <a:srgbClr val="C00000"/>
                </a:solidFill>
                <a:latin typeface="+mn-ea"/>
                <a:ea typeface="+mn-ea"/>
              </a:rPr>
              <a:t>模块</a:t>
            </a:r>
            <a:endParaRPr lang="en-US" altLang="zh-CN" sz="2400" dirty="0">
              <a:solidFill>
                <a:srgbClr val="C00000"/>
              </a:solidFill>
              <a:latin typeface="+mn-ea"/>
              <a:ea typeface="+mn-ea"/>
            </a:endParaRPr>
          </a:p>
          <a:p>
            <a:r>
              <a:rPr lang="en-US" altLang="zh-CN" sz="2400" dirty="0">
                <a:solidFill>
                  <a:srgbClr val="C00000"/>
                </a:solidFill>
                <a:latin typeface="+mn-ea"/>
                <a:ea typeface="+mn-ea"/>
              </a:rPr>
              <a:t>   </a:t>
            </a:r>
            <a:r>
              <a:rPr lang="zh-CN" altLang="en-US" sz="2000" dirty="0">
                <a:latin typeface="+mn-ea"/>
                <a:ea typeface="+mn-ea"/>
              </a:rPr>
              <a:t>方式：打开</a:t>
            </a:r>
            <a:r>
              <a:rPr lang="en-US" altLang="zh-CN" sz="2000" dirty="0" err="1">
                <a:latin typeface="+mn-ea"/>
                <a:ea typeface="+mn-ea"/>
              </a:rPr>
              <a:t>Matlab</a:t>
            </a:r>
            <a:r>
              <a:rPr lang="en-US" altLang="zh-CN" sz="2000" dirty="0">
                <a:latin typeface="+mn-ea"/>
                <a:ea typeface="+mn-ea"/>
                <a:sym typeface="Wingdings" panose="05000000000000000000" pitchFamily="2" charset="2"/>
              </a:rPr>
              <a:t></a:t>
            </a:r>
            <a:r>
              <a:rPr lang="zh-CN" altLang="en-US" sz="2000" dirty="0">
                <a:latin typeface="+mn-ea"/>
                <a:ea typeface="+mn-ea"/>
                <a:sym typeface="Wingdings" panose="05000000000000000000" pitchFamily="2" charset="2"/>
              </a:rPr>
              <a:t>点击“</a:t>
            </a:r>
            <a:r>
              <a:rPr lang="en-US" altLang="zh-CN" sz="2000" dirty="0">
                <a:latin typeface="+mn-ea"/>
                <a:ea typeface="+mn-ea"/>
                <a:sym typeface="Wingdings" panose="05000000000000000000" pitchFamily="2" charset="2"/>
              </a:rPr>
              <a:t>Simulink</a:t>
            </a:r>
            <a:r>
              <a:rPr lang="zh-CN" altLang="en-US" sz="2000" dirty="0">
                <a:latin typeface="+mn-ea"/>
                <a:ea typeface="+mn-ea"/>
                <a:sym typeface="Wingdings" panose="05000000000000000000" pitchFamily="2" charset="2"/>
              </a:rPr>
              <a:t>”</a:t>
            </a:r>
            <a:r>
              <a:rPr lang="en-US" altLang="zh-CN" sz="2000" dirty="0">
                <a:latin typeface="+mn-ea"/>
                <a:sym typeface="Wingdings" panose="05000000000000000000" pitchFamily="2" charset="2"/>
              </a:rPr>
              <a:t></a:t>
            </a:r>
            <a:r>
              <a:rPr lang="zh-CN" altLang="en-US" sz="2000" dirty="0">
                <a:latin typeface="+mn-ea"/>
                <a:sym typeface="Wingdings" panose="05000000000000000000" pitchFamily="2" charset="2"/>
              </a:rPr>
              <a:t>点击“</a:t>
            </a:r>
            <a:r>
              <a:rPr lang="en-US" altLang="zh-CN" sz="2000" dirty="0">
                <a:latin typeface="+mn-ea"/>
                <a:sym typeface="Wingdings" panose="05000000000000000000" pitchFamily="2" charset="2"/>
              </a:rPr>
              <a:t>Blank Model”</a:t>
            </a:r>
            <a:endParaRPr lang="zh-CN" altLang="en-US" sz="2000" dirty="0">
              <a:latin typeface="+mn-ea"/>
              <a:ea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544" y="3147814"/>
            <a:ext cx="5256584" cy="1400964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4168" y="2962885"/>
            <a:ext cx="2521080" cy="2158460"/>
          </a:xfrm>
          <a:prstGeom prst="rect">
            <a:avLst/>
          </a:prstGeom>
        </p:spPr>
      </p:pic>
      <p:sp>
        <p:nvSpPr>
          <p:cNvPr id="2" name="TextBox 4"/>
          <p:cNvSpPr txBox="1"/>
          <p:nvPr/>
        </p:nvSpPr>
        <p:spPr>
          <a:xfrm>
            <a:off x="58727" y="379497"/>
            <a:ext cx="2424123" cy="49244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6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四、实验原理</a:t>
            </a:r>
            <a:endParaRPr lang="zh-CN" altLang="en-US" sz="2600" b="1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93637" y="1245989"/>
            <a:ext cx="872928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zh-CN" altLang="en-US" sz="2400" b="1" kern="100" dirty="0">
                <a:solidFill>
                  <a:srgbClr val="0070C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自控实验常用的两种</a:t>
            </a:r>
            <a:r>
              <a:rPr lang="en-GB" altLang="zh-CN" sz="2400" b="1" kern="100" dirty="0" err="1">
                <a:solidFill>
                  <a:srgbClr val="0070C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Matlab</a:t>
            </a:r>
            <a:r>
              <a:rPr lang="zh-CN" altLang="en-US" sz="2400" b="1" kern="100" dirty="0">
                <a:solidFill>
                  <a:srgbClr val="0070C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程序处理方式：</a:t>
            </a:r>
            <a:endParaRPr lang="zh-CN" altLang="en-GB" sz="2400" b="1" kern="100" dirty="0">
              <a:solidFill>
                <a:srgbClr val="0070C0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23528" y="1464697"/>
            <a:ext cx="8712968" cy="1717393"/>
          </a:xfrm>
        </p:spPr>
        <p:txBody>
          <a:bodyPr wrap="square">
            <a:spAutoFit/>
          </a:bodyPr>
          <a:lstStyle/>
          <a:p>
            <a:pPr marL="0" indent="0">
              <a:buNone/>
            </a:pPr>
            <a:endParaRPr lang="en-US" altLang="zh-CN" sz="24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FontTx/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模拟一个微分方程                          ，其中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为单位阶跃信号。</a:t>
            </a:r>
            <a:endParaRPr lang="zh-CN" altLang="en-US" sz="2400" dirty="0"/>
          </a:p>
          <a:p>
            <a:pPr marL="0" indent="0">
              <a:buFontTx/>
              <a:buNone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FontTx/>
              <a:buNone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0" name="Object 4"/>
          <p:cNvGraphicFramePr>
            <a:graphicFrameLocks noChangeAspect="1"/>
          </p:cNvGraphicFramePr>
          <p:nvPr/>
        </p:nvGraphicFramePr>
        <p:xfrm>
          <a:off x="3275856" y="2006070"/>
          <a:ext cx="1870148" cy="3166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Equation" r:id="rId1" imgW="17678400" imgH="4267200" progId="Equation.DSMT4">
                  <p:embed/>
                </p:oleObj>
              </mc:Choice>
              <mc:Fallback>
                <p:oleObj name="Equation" r:id="rId1" imgW="17678400" imgH="4267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5856" y="2006070"/>
                        <a:ext cx="1870148" cy="3166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4"/>
          <p:cNvSpPr txBox="1"/>
          <p:nvPr/>
        </p:nvSpPr>
        <p:spPr>
          <a:xfrm>
            <a:off x="58727" y="379497"/>
            <a:ext cx="2424123" cy="49244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6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五、实验步骤</a:t>
            </a:r>
            <a:endParaRPr lang="zh-CN" altLang="en-US" sz="2600" b="1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23528" y="1413313"/>
            <a:ext cx="872928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400" b="1" kern="100" dirty="0">
                <a:solidFill>
                  <a:srgbClr val="0070C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例</a:t>
            </a:r>
            <a:endParaRPr lang="en-US" altLang="zh-CN" sz="2400" b="1" kern="100" dirty="0">
              <a:solidFill>
                <a:srgbClr val="0070C0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04" y="1059582"/>
            <a:ext cx="5173888" cy="4036551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 flipH="1">
            <a:off x="5436096" y="1851670"/>
            <a:ext cx="3600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+mn-ea"/>
                <a:ea typeface="+mn-ea"/>
              </a:rPr>
              <a:t>1. </a:t>
            </a:r>
            <a:r>
              <a:rPr lang="zh-CN" altLang="en-US" sz="2000" dirty="0">
                <a:latin typeface="+mn-ea"/>
                <a:ea typeface="+mn-ea"/>
              </a:rPr>
              <a:t>打开</a:t>
            </a:r>
            <a:r>
              <a:rPr lang="en-US" altLang="zh-CN" sz="2000" dirty="0" err="1">
                <a:latin typeface="+mn-ea"/>
                <a:ea typeface="+mn-ea"/>
              </a:rPr>
              <a:t>Matlab</a:t>
            </a:r>
            <a:r>
              <a:rPr lang="en-US" altLang="zh-CN" sz="2000" dirty="0">
                <a:latin typeface="+mn-ea"/>
                <a:ea typeface="+mn-ea"/>
                <a:sym typeface="Wingdings" panose="05000000000000000000" pitchFamily="2" charset="2"/>
              </a:rPr>
              <a:t></a:t>
            </a:r>
            <a:r>
              <a:rPr lang="zh-CN" altLang="en-US" sz="2000" dirty="0">
                <a:latin typeface="+mn-ea"/>
                <a:ea typeface="+mn-ea"/>
                <a:sym typeface="Wingdings" panose="05000000000000000000" pitchFamily="2" charset="2"/>
              </a:rPr>
              <a:t>点击“</a:t>
            </a:r>
            <a:r>
              <a:rPr lang="en-US" altLang="zh-CN" sz="2000" dirty="0">
                <a:latin typeface="+mn-ea"/>
                <a:ea typeface="+mn-ea"/>
                <a:sym typeface="Wingdings" panose="05000000000000000000" pitchFamily="2" charset="2"/>
              </a:rPr>
              <a:t>Simulink</a:t>
            </a:r>
            <a:r>
              <a:rPr lang="zh-CN" altLang="en-US" sz="2000" dirty="0">
                <a:latin typeface="+mn-ea"/>
                <a:ea typeface="+mn-ea"/>
                <a:sym typeface="Wingdings" panose="05000000000000000000" pitchFamily="2" charset="2"/>
              </a:rPr>
              <a:t>”</a:t>
            </a:r>
            <a:r>
              <a:rPr lang="en-US" altLang="zh-CN" sz="2000" dirty="0">
                <a:latin typeface="+mn-ea"/>
                <a:sym typeface="Wingdings" panose="05000000000000000000" pitchFamily="2" charset="2"/>
              </a:rPr>
              <a:t></a:t>
            </a:r>
            <a:r>
              <a:rPr lang="zh-CN" altLang="en-US" sz="2000" dirty="0">
                <a:latin typeface="+mn-ea"/>
                <a:sym typeface="Wingdings" panose="05000000000000000000" pitchFamily="2" charset="2"/>
              </a:rPr>
              <a:t>点击“</a:t>
            </a:r>
            <a:r>
              <a:rPr lang="en-US" altLang="zh-CN" sz="2000" dirty="0">
                <a:latin typeface="+mn-ea"/>
                <a:sym typeface="Wingdings" panose="05000000000000000000" pitchFamily="2" charset="2"/>
              </a:rPr>
              <a:t>Blank Model”</a:t>
            </a:r>
            <a:r>
              <a:rPr lang="zh-CN" altLang="en-US" sz="2000" dirty="0">
                <a:latin typeface="+mn-ea"/>
                <a:sym typeface="Wingdings" panose="05000000000000000000" pitchFamily="2" charset="2"/>
              </a:rPr>
              <a:t>点击“</a:t>
            </a:r>
            <a:r>
              <a:rPr lang="en-US" altLang="zh-CN" sz="2000" dirty="0">
                <a:latin typeface="+mn-ea"/>
                <a:sym typeface="Wingdings" panose="05000000000000000000" pitchFamily="2" charset="2"/>
              </a:rPr>
              <a:t>Library Browser</a:t>
            </a:r>
            <a:r>
              <a:rPr lang="zh-CN" altLang="en-US" sz="2000" dirty="0">
                <a:latin typeface="+mn-ea"/>
                <a:sym typeface="Wingdings" panose="05000000000000000000" pitchFamily="2" charset="2"/>
              </a:rPr>
              <a:t>”</a:t>
            </a:r>
            <a:endParaRPr lang="zh-CN" altLang="en-US" sz="2000" dirty="0">
              <a:latin typeface="+mn-ea"/>
              <a:ea typeface="+mn-ea"/>
            </a:endParaRPr>
          </a:p>
        </p:txBody>
      </p:sp>
      <p:sp>
        <p:nvSpPr>
          <p:cNvPr id="2" name="TextBox 4"/>
          <p:cNvSpPr txBox="1"/>
          <p:nvPr/>
        </p:nvSpPr>
        <p:spPr>
          <a:xfrm>
            <a:off x="58727" y="379497"/>
            <a:ext cx="2424123" cy="49244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6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五、实验步骤</a:t>
            </a:r>
            <a:endParaRPr lang="zh-CN" altLang="en-US" sz="2600" b="1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 flipH="1">
            <a:off x="1020596" y="1075693"/>
            <a:ext cx="770485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+mn-ea"/>
                <a:ea typeface="+mn-ea"/>
              </a:rPr>
              <a:t>2. </a:t>
            </a:r>
            <a:r>
              <a:rPr lang="zh-CN" altLang="en-US" sz="2000" dirty="0">
                <a:latin typeface="+mn-ea"/>
                <a:ea typeface="+mn-ea"/>
              </a:rPr>
              <a:t>在左侧的“</a:t>
            </a:r>
            <a:r>
              <a:rPr lang="en-US" altLang="zh-CN" sz="2000" dirty="0">
                <a:latin typeface="+mn-ea"/>
                <a:ea typeface="+mn-ea"/>
              </a:rPr>
              <a:t>Commonly Used Blocks</a:t>
            </a:r>
            <a:r>
              <a:rPr lang="zh-CN" altLang="en-US" sz="2000" dirty="0">
                <a:latin typeface="+mn-ea"/>
                <a:ea typeface="+mn-ea"/>
              </a:rPr>
              <a:t>”栏下，</a:t>
            </a:r>
            <a:r>
              <a:rPr lang="en-US" altLang="zh-CN" sz="2000" dirty="0">
                <a:latin typeface="+mn-ea"/>
                <a:ea typeface="+mn-ea"/>
              </a:rPr>
              <a:t> </a:t>
            </a:r>
            <a:r>
              <a:rPr lang="zh-CN" altLang="en-US" sz="2000" dirty="0">
                <a:latin typeface="+mn-ea"/>
                <a:ea typeface="+mn-ea"/>
              </a:rPr>
              <a:t>把需要用到的</a:t>
            </a:r>
            <a:r>
              <a:rPr lang="en-US" altLang="zh-CN" sz="2000" dirty="0">
                <a:latin typeface="+mn-ea"/>
                <a:ea typeface="+mn-ea"/>
              </a:rPr>
              <a:t>Integrator</a:t>
            </a:r>
            <a:r>
              <a:rPr lang="zh-CN" altLang="en-US" sz="2000" dirty="0">
                <a:latin typeface="+mn-ea"/>
                <a:ea typeface="+mn-ea"/>
              </a:rPr>
              <a:t>、</a:t>
            </a:r>
            <a:r>
              <a:rPr lang="en-US" altLang="zh-CN" sz="2000" dirty="0">
                <a:latin typeface="+mn-ea"/>
                <a:ea typeface="+mn-ea"/>
              </a:rPr>
              <a:t>Gain</a:t>
            </a:r>
            <a:r>
              <a:rPr lang="zh-CN" altLang="en-US" sz="2000" dirty="0">
                <a:latin typeface="+mn-ea"/>
                <a:ea typeface="+mn-ea"/>
              </a:rPr>
              <a:t>、</a:t>
            </a:r>
            <a:r>
              <a:rPr lang="en-US" altLang="zh-CN" sz="2000" dirty="0">
                <a:latin typeface="+mn-ea"/>
                <a:ea typeface="+mn-ea"/>
              </a:rPr>
              <a:t>Sum</a:t>
            </a:r>
            <a:r>
              <a:rPr lang="zh-CN" altLang="en-US" sz="2000" dirty="0">
                <a:latin typeface="+mn-ea"/>
                <a:ea typeface="+mn-ea"/>
              </a:rPr>
              <a:t>、</a:t>
            </a:r>
            <a:r>
              <a:rPr lang="en-US" altLang="zh-CN" sz="2000" dirty="0">
                <a:latin typeface="+mn-ea"/>
                <a:ea typeface="+mn-ea"/>
              </a:rPr>
              <a:t>Scope </a:t>
            </a:r>
            <a:r>
              <a:rPr lang="zh-CN" altLang="en-US" sz="2000" dirty="0">
                <a:latin typeface="+mn-ea"/>
                <a:ea typeface="+mn-ea"/>
              </a:rPr>
              <a:t>共</a:t>
            </a:r>
            <a:r>
              <a:rPr lang="en-US" altLang="zh-CN" sz="2000" dirty="0">
                <a:latin typeface="+mn-ea"/>
                <a:ea typeface="+mn-ea"/>
              </a:rPr>
              <a:t>4</a:t>
            </a:r>
            <a:r>
              <a:rPr lang="zh-CN" altLang="en-US" sz="2000" dirty="0">
                <a:latin typeface="+mn-ea"/>
                <a:ea typeface="+mn-ea"/>
              </a:rPr>
              <a:t>个模块 鼠标左键 拖到 窗口中。</a:t>
            </a:r>
            <a:endParaRPr lang="en-US" altLang="zh-CN" sz="2000" dirty="0">
              <a:latin typeface="+mn-ea"/>
              <a:ea typeface="+mn-ea"/>
            </a:endParaRPr>
          </a:p>
          <a:p>
            <a:endParaRPr lang="zh-CN" altLang="en-US" sz="2000" dirty="0">
              <a:latin typeface="+mn-ea"/>
              <a:ea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8024" y="2067694"/>
            <a:ext cx="3937428" cy="2915464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995686"/>
            <a:ext cx="3769199" cy="2987472"/>
          </a:xfrm>
          <a:prstGeom prst="rect">
            <a:avLst/>
          </a:prstGeom>
        </p:spPr>
      </p:pic>
      <p:sp>
        <p:nvSpPr>
          <p:cNvPr id="2" name="TextBox 4"/>
          <p:cNvSpPr txBox="1"/>
          <p:nvPr/>
        </p:nvSpPr>
        <p:spPr>
          <a:xfrm>
            <a:off x="58727" y="379497"/>
            <a:ext cx="2424123" cy="49244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6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五、实验步骤</a:t>
            </a:r>
            <a:endParaRPr lang="zh-CN" altLang="en-US" sz="2600" b="1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 flipH="1">
            <a:off x="611560" y="1995686"/>
            <a:ext cx="208823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000" dirty="0">
                <a:latin typeface="+mn-ea"/>
                <a:ea typeface="+mn-ea"/>
              </a:rPr>
              <a:t>3. </a:t>
            </a:r>
            <a:r>
              <a:rPr lang="zh-CN" altLang="en-US" sz="2000" dirty="0">
                <a:latin typeface="+mn-ea"/>
                <a:ea typeface="+mn-ea"/>
              </a:rPr>
              <a:t>在左侧的“</a:t>
            </a:r>
            <a:r>
              <a:rPr lang="en-US" altLang="zh-CN" sz="2000" dirty="0">
                <a:latin typeface="+mn-ea"/>
                <a:ea typeface="+mn-ea"/>
              </a:rPr>
              <a:t>Sources</a:t>
            </a:r>
            <a:r>
              <a:rPr lang="zh-CN" altLang="en-US" sz="2000" dirty="0">
                <a:latin typeface="+mn-ea"/>
                <a:ea typeface="+mn-ea"/>
              </a:rPr>
              <a:t>”栏下，</a:t>
            </a:r>
            <a:r>
              <a:rPr lang="en-US" altLang="zh-CN" sz="2000" dirty="0">
                <a:latin typeface="+mn-ea"/>
                <a:ea typeface="+mn-ea"/>
              </a:rPr>
              <a:t> </a:t>
            </a:r>
            <a:r>
              <a:rPr lang="zh-CN" altLang="en-US" sz="2000" dirty="0">
                <a:latin typeface="+mn-ea"/>
                <a:ea typeface="+mn-ea"/>
              </a:rPr>
              <a:t>把需要用到的</a:t>
            </a:r>
            <a:r>
              <a:rPr lang="en-US" altLang="zh-CN" sz="2000" dirty="0">
                <a:latin typeface="+mn-ea"/>
                <a:ea typeface="+mn-ea"/>
              </a:rPr>
              <a:t>Step</a:t>
            </a:r>
            <a:r>
              <a:rPr lang="zh-CN" altLang="en-US" sz="2000" dirty="0">
                <a:latin typeface="+mn-ea"/>
                <a:ea typeface="+mn-ea"/>
              </a:rPr>
              <a:t>模块 鼠标左键 拖到 窗口中。</a:t>
            </a:r>
            <a:endParaRPr lang="en-US" altLang="zh-CN" sz="2000" dirty="0">
              <a:latin typeface="+mn-ea"/>
              <a:ea typeface="+mn-ea"/>
            </a:endParaRPr>
          </a:p>
          <a:p>
            <a:pPr algn="just"/>
            <a:endParaRPr lang="zh-CN" altLang="en-US" sz="2000" dirty="0">
              <a:latin typeface="+mn-ea"/>
              <a:ea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1840" y="1069262"/>
            <a:ext cx="4570823" cy="3791840"/>
          </a:xfrm>
          <a:prstGeom prst="rect">
            <a:avLst/>
          </a:prstGeom>
        </p:spPr>
      </p:pic>
      <p:sp>
        <p:nvSpPr>
          <p:cNvPr id="2" name="TextBox 4"/>
          <p:cNvSpPr txBox="1"/>
          <p:nvPr/>
        </p:nvSpPr>
        <p:spPr>
          <a:xfrm>
            <a:off x="58727" y="379497"/>
            <a:ext cx="2424123" cy="49244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6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五、实验步骤</a:t>
            </a:r>
            <a:endParaRPr lang="zh-CN" altLang="en-US" sz="2600" b="1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 flipH="1">
            <a:off x="971600" y="971858"/>
            <a:ext cx="77048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+mn-ea"/>
                <a:ea typeface="+mn-ea"/>
              </a:rPr>
              <a:t>4. </a:t>
            </a:r>
            <a:r>
              <a:rPr lang="zh-CN" altLang="en-US" sz="2000" dirty="0">
                <a:latin typeface="+mn-ea"/>
                <a:ea typeface="+mn-ea"/>
              </a:rPr>
              <a:t>双击窗口中“</a:t>
            </a:r>
            <a:r>
              <a:rPr lang="en-US" altLang="zh-CN" sz="2000" dirty="0">
                <a:latin typeface="+mn-ea"/>
                <a:ea typeface="+mn-ea"/>
              </a:rPr>
              <a:t>sum</a:t>
            </a:r>
            <a:r>
              <a:rPr lang="zh-CN" altLang="en-US" sz="2000" dirty="0">
                <a:latin typeface="+mn-ea"/>
                <a:ea typeface="+mn-ea"/>
              </a:rPr>
              <a:t>”模块，将“</a:t>
            </a:r>
            <a:r>
              <a:rPr lang="en-US" altLang="zh-CN" sz="2000" dirty="0">
                <a:latin typeface="+mn-ea"/>
                <a:ea typeface="+mn-ea"/>
              </a:rPr>
              <a:t>++</a:t>
            </a:r>
            <a:r>
              <a:rPr lang="zh-CN" altLang="en-US" sz="2000" dirty="0">
                <a:latin typeface="+mn-ea"/>
                <a:ea typeface="+mn-ea"/>
              </a:rPr>
              <a:t>”改成“</a:t>
            </a:r>
            <a:r>
              <a:rPr lang="en-US" altLang="zh-CN" sz="2000" dirty="0">
                <a:latin typeface="+mn-ea"/>
                <a:ea typeface="+mn-ea"/>
              </a:rPr>
              <a:t>+-</a:t>
            </a:r>
            <a:r>
              <a:rPr lang="zh-CN" altLang="en-US" sz="2000" dirty="0">
                <a:latin typeface="+mn-ea"/>
                <a:ea typeface="+mn-ea"/>
              </a:rPr>
              <a:t>”。</a:t>
            </a:r>
            <a:endParaRPr lang="en-US" altLang="zh-CN" sz="2000" dirty="0">
              <a:latin typeface="+mn-ea"/>
              <a:ea typeface="+mn-ea"/>
            </a:endParaRPr>
          </a:p>
          <a:p>
            <a:r>
              <a:rPr lang="en-US" altLang="zh-CN" sz="2000" dirty="0">
                <a:latin typeface="+mn-ea"/>
                <a:ea typeface="+mn-ea"/>
              </a:rPr>
              <a:t>5. </a:t>
            </a:r>
            <a:r>
              <a:rPr lang="zh-CN" altLang="en-US" sz="2000" dirty="0">
                <a:latin typeface="+mn-ea"/>
                <a:ea typeface="+mn-ea"/>
              </a:rPr>
              <a:t>双击窗口中的“</a:t>
            </a:r>
            <a:r>
              <a:rPr lang="en-US" altLang="zh-CN" sz="2000" dirty="0">
                <a:latin typeface="+mn-ea"/>
                <a:ea typeface="+mn-ea"/>
              </a:rPr>
              <a:t>gain”</a:t>
            </a:r>
            <a:r>
              <a:rPr lang="zh-CN" altLang="en-US" sz="2000" dirty="0">
                <a:latin typeface="+mn-ea"/>
                <a:ea typeface="+mn-ea"/>
              </a:rPr>
              <a:t>模块，将“</a:t>
            </a:r>
            <a:r>
              <a:rPr lang="en-US" altLang="zh-CN" sz="2000" dirty="0">
                <a:latin typeface="+mn-ea"/>
                <a:ea typeface="+mn-ea"/>
              </a:rPr>
              <a:t>1</a:t>
            </a:r>
            <a:r>
              <a:rPr lang="zh-CN" altLang="en-US" sz="2000" dirty="0">
                <a:latin typeface="+mn-ea"/>
                <a:ea typeface="+mn-ea"/>
              </a:rPr>
              <a:t>”改成“</a:t>
            </a:r>
            <a:r>
              <a:rPr lang="en-US" altLang="zh-CN" sz="2000" dirty="0">
                <a:latin typeface="+mn-ea"/>
                <a:ea typeface="+mn-ea"/>
              </a:rPr>
              <a:t>2</a:t>
            </a:r>
            <a:r>
              <a:rPr lang="zh-CN" altLang="en-US" sz="2000" dirty="0">
                <a:latin typeface="+mn-ea"/>
                <a:ea typeface="+mn-ea"/>
              </a:rPr>
              <a:t>”。</a:t>
            </a:r>
            <a:endParaRPr lang="zh-CN" altLang="en-US" sz="2000" dirty="0">
              <a:latin typeface="+mn-ea"/>
              <a:ea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779662"/>
            <a:ext cx="4100015" cy="319071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2013" y="2139702"/>
            <a:ext cx="4282692" cy="2569615"/>
          </a:xfrm>
          <a:prstGeom prst="rect">
            <a:avLst/>
          </a:prstGeom>
        </p:spPr>
      </p:pic>
      <p:sp>
        <p:nvSpPr>
          <p:cNvPr id="2" name="TextBox 4"/>
          <p:cNvSpPr txBox="1"/>
          <p:nvPr/>
        </p:nvSpPr>
        <p:spPr>
          <a:xfrm>
            <a:off x="58727" y="379497"/>
            <a:ext cx="2424123" cy="49244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6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五、实验步骤</a:t>
            </a:r>
            <a:endParaRPr lang="zh-CN" altLang="en-US" sz="2600" b="1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 flipH="1">
            <a:off x="614457" y="1347614"/>
            <a:ext cx="77048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+mn-ea"/>
                <a:ea typeface="+mn-ea"/>
              </a:rPr>
              <a:t>6. </a:t>
            </a:r>
            <a:r>
              <a:rPr lang="zh-CN" altLang="en-US" sz="2000" dirty="0">
                <a:latin typeface="+mn-ea"/>
                <a:ea typeface="+mn-ea"/>
              </a:rPr>
              <a:t>鼠标左键 依次连接相关模块。</a:t>
            </a:r>
            <a:endParaRPr lang="en-US" altLang="zh-CN" sz="2000" dirty="0">
              <a:latin typeface="+mn-ea"/>
              <a:ea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703" y="2201984"/>
            <a:ext cx="5118363" cy="1606633"/>
          </a:xfrm>
          <a:prstGeom prst="rect">
            <a:avLst/>
          </a:prstGeom>
        </p:spPr>
      </p:pic>
      <p:sp>
        <p:nvSpPr>
          <p:cNvPr id="2" name="TextBox 4"/>
          <p:cNvSpPr txBox="1"/>
          <p:nvPr/>
        </p:nvSpPr>
        <p:spPr>
          <a:xfrm>
            <a:off x="58727" y="379497"/>
            <a:ext cx="2424123" cy="49244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6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五、实验步骤</a:t>
            </a:r>
            <a:endParaRPr lang="zh-CN" altLang="en-US" sz="2600" b="1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 flipH="1">
            <a:off x="539552" y="1275606"/>
            <a:ext cx="770485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+mn-ea"/>
                <a:ea typeface="+mn-ea"/>
              </a:rPr>
              <a:t>7. </a:t>
            </a:r>
            <a:r>
              <a:rPr lang="zh-CN" altLang="en-US" sz="2000" dirty="0">
                <a:latin typeface="+mn-ea"/>
                <a:ea typeface="+mn-ea"/>
              </a:rPr>
              <a:t>为显示输出</a:t>
            </a:r>
            <a:r>
              <a:rPr lang="en-US" altLang="zh-CN" sz="2000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zh-CN" altLang="en-US" sz="2000" dirty="0">
                <a:latin typeface="+mn-ea"/>
                <a:ea typeface="+mn-ea"/>
              </a:rPr>
              <a:t>，需将积分模块的输出</a:t>
            </a:r>
            <a:r>
              <a:rPr lang="en-US" altLang="zh-CN" sz="2000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zh-CN" altLang="en-US" sz="2000" dirty="0">
                <a:latin typeface="+mn-ea"/>
                <a:ea typeface="+mn-ea"/>
              </a:rPr>
              <a:t>连接到</a:t>
            </a:r>
            <a:r>
              <a:rPr lang="en-US" altLang="zh-CN" sz="2000" dirty="0">
                <a:latin typeface="+mn-ea"/>
                <a:ea typeface="+mn-ea"/>
              </a:rPr>
              <a:t>Scope</a:t>
            </a:r>
            <a:r>
              <a:rPr lang="zh-CN" altLang="en-US" sz="2000" dirty="0">
                <a:latin typeface="+mn-ea"/>
                <a:ea typeface="+mn-ea"/>
              </a:rPr>
              <a:t>模块。</a:t>
            </a:r>
            <a:endParaRPr lang="en-US" altLang="zh-CN" sz="2000" dirty="0">
              <a:latin typeface="+mn-ea"/>
              <a:ea typeface="+mn-ea"/>
            </a:endParaRPr>
          </a:p>
          <a:p>
            <a:r>
              <a:rPr lang="zh-CN" altLang="en-US" sz="2000" dirty="0">
                <a:latin typeface="+mn-ea"/>
                <a:ea typeface="+mn-ea"/>
              </a:rPr>
              <a:t>鼠标右键选中连接线，点击连接线上任一点，按住鼠标右键不松开，连接到</a:t>
            </a:r>
            <a:r>
              <a:rPr lang="en-US" altLang="zh-CN" sz="2000" dirty="0">
                <a:latin typeface="+mn-ea"/>
                <a:ea typeface="+mn-ea"/>
              </a:rPr>
              <a:t>Scope</a:t>
            </a:r>
            <a:r>
              <a:rPr lang="zh-CN" altLang="en-US" sz="2000" dirty="0">
                <a:latin typeface="+mn-ea"/>
                <a:ea typeface="+mn-ea"/>
              </a:rPr>
              <a:t>模块的输入端。</a:t>
            </a:r>
            <a:endParaRPr lang="en-US" altLang="zh-CN" sz="2000" dirty="0">
              <a:latin typeface="+mn-ea"/>
              <a:ea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744" y="2787774"/>
            <a:ext cx="4934204" cy="1422473"/>
          </a:xfrm>
          <a:prstGeom prst="rect">
            <a:avLst/>
          </a:prstGeom>
        </p:spPr>
      </p:pic>
      <p:sp>
        <p:nvSpPr>
          <p:cNvPr id="2" name="TextBox 4"/>
          <p:cNvSpPr txBox="1"/>
          <p:nvPr/>
        </p:nvSpPr>
        <p:spPr>
          <a:xfrm>
            <a:off x="58727" y="379497"/>
            <a:ext cx="2424123" cy="49244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6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五、实验步骤</a:t>
            </a:r>
            <a:endParaRPr lang="zh-CN" altLang="en-US" sz="2600" b="1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3688" y="1887616"/>
            <a:ext cx="5157229" cy="3057777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 flipH="1">
            <a:off x="611560" y="1131590"/>
            <a:ext cx="77048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+mn-ea"/>
                <a:ea typeface="+mn-ea"/>
              </a:rPr>
              <a:t>8. </a:t>
            </a:r>
            <a:r>
              <a:rPr lang="zh-CN" altLang="en-US" sz="2000" dirty="0">
                <a:latin typeface="+mn-ea"/>
                <a:ea typeface="+mn-ea"/>
              </a:rPr>
              <a:t>保存并点击“</a:t>
            </a:r>
            <a:r>
              <a:rPr lang="en-US" altLang="zh-CN" sz="2000" dirty="0">
                <a:latin typeface="+mn-ea"/>
                <a:ea typeface="+mn-ea"/>
              </a:rPr>
              <a:t>run”,</a:t>
            </a:r>
            <a:r>
              <a:rPr lang="zh-CN" altLang="en-US" sz="2000" dirty="0">
                <a:latin typeface="+mn-ea"/>
                <a:ea typeface="+mn-ea"/>
              </a:rPr>
              <a:t>运行程序。</a:t>
            </a:r>
            <a:endParaRPr lang="en-US" altLang="zh-CN" sz="2000" dirty="0">
              <a:latin typeface="+mn-ea"/>
              <a:ea typeface="+mn-ea"/>
            </a:endParaRPr>
          </a:p>
          <a:p>
            <a:r>
              <a:rPr lang="en-US" altLang="zh-CN" sz="2000" dirty="0">
                <a:latin typeface="+mn-ea"/>
                <a:ea typeface="+mn-ea"/>
              </a:rPr>
              <a:t>9. </a:t>
            </a:r>
            <a:r>
              <a:rPr lang="zh-CN" altLang="en-US" sz="2000" dirty="0">
                <a:latin typeface="+mn-ea"/>
                <a:ea typeface="+mn-ea"/>
              </a:rPr>
              <a:t>双击“</a:t>
            </a:r>
            <a:r>
              <a:rPr lang="en-US" altLang="zh-CN" sz="2000" dirty="0">
                <a:latin typeface="+mn-ea"/>
                <a:ea typeface="+mn-ea"/>
              </a:rPr>
              <a:t>Scope</a:t>
            </a:r>
            <a:r>
              <a:rPr lang="zh-CN" altLang="en-US" sz="2000" dirty="0">
                <a:latin typeface="+mn-ea"/>
                <a:ea typeface="+mn-ea"/>
              </a:rPr>
              <a:t>”模块，可观察输出信号</a:t>
            </a:r>
            <a:r>
              <a:rPr lang="en-US" altLang="zh-CN" sz="2000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altLang="zh-CN" sz="2000" dirty="0">
                <a:latin typeface="+mn-ea"/>
                <a:ea typeface="+mn-ea"/>
              </a:rPr>
              <a:t>.</a:t>
            </a:r>
            <a:endParaRPr lang="en-US" altLang="zh-CN" sz="2000" dirty="0">
              <a:latin typeface="+mn-ea"/>
              <a:ea typeface="+mn-ea"/>
            </a:endParaRPr>
          </a:p>
        </p:txBody>
      </p:sp>
      <p:sp>
        <p:nvSpPr>
          <p:cNvPr id="2" name="TextBox 4"/>
          <p:cNvSpPr txBox="1"/>
          <p:nvPr/>
        </p:nvSpPr>
        <p:spPr>
          <a:xfrm>
            <a:off x="58727" y="379497"/>
            <a:ext cx="2424123" cy="49244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6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五、实验步骤</a:t>
            </a:r>
            <a:endParaRPr lang="zh-CN" altLang="en-US" sz="2600" b="1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471921" y="2211710"/>
            <a:ext cx="8489445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400" dirty="0">
                <a:latin typeface="+mn-ea"/>
                <a:ea typeface="+mn-ea"/>
              </a:rPr>
              <a:t>控制系统常用的数学模型有</a:t>
            </a:r>
            <a:r>
              <a:rPr lang="en-US" altLang="zh-CN" sz="2400" dirty="0">
                <a:latin typeface="+mn-ea"/>
                <a:ea typeface="+mn-ea"/>
              </a:rPr>
              <a:t>3</a:t>
            </a:r>
            <a:r>
              <a:rPr lang="zh-CN" altLang="en-US" sz="2400" dirty="0">
                <a:latin typeface="+mn-ea"/>
                <a:ea typeface="+mn-ea"/>
              </a:rPr>
              <a:t>种：</a:t>
            </a:r>
            <a:r>
              <a:rPr lang="zh-CN" altLang="en-US" sz="2400" b="1" dirty="0">
                <a:solidFill>
                  <a:srgbClr val="C00000"/>
                </a:solidFill>
                <a:latin typeface="+mn-ea"/>
                <a:ea typeface="+mn-ea"/>
              </a:rPr>
              <a:t>传递函数模型（</a:t>
            </a:r>
            <a:r>
              <a:rPr lang="en-US" altLang="zh-CN" sz="2400" b="1" dirty="0" err="1">
                <a:solidFill>
                  <a:srgbClr val="C00000"/>
                </a:solidFill>
                <a:latin typeface="+mn-ea"/>
                <a:ea typeface="+mn-ea"/>
              </a:rPr>
              <a:t>tf</a:t>
            </a:r>
            <a:r>
              <a:rPr lang="zh-CN" altLang="en-US" sz="2400" b="1" dirty="0">
                <a:solidFill>
                  <a:srgbClr val="C00000"/>
                </a:solidFill>
                <a:latin typeface="+mn-ea"/>
                <a:ea typeface="+mn-ea"/>
              </a:rPr>
              <a:t>对象）、零极点增益模型（</a:t>
            </a:r>
            <a:r>
              <a:rPr lang="en-US" altLang="zh-CN" sz="2400" b="1" dirty="0" err="1">
                <a:solidFill>
                  <a:srgbClr val="C00000"/>
                </a:solidFill>
                <a:latin typeface="+mn-ea"/>
                <a:ea typeface="+mn-ea"/>
              </a:rPr>
              <a:t>zpk</a:t>
            </a:r>
            <a:r>
              <a:rPr lang="zh-CN" altLang="en-US" sz="2400" b="1" dirty="0">
                <a:solidFill>
                  <a:srgbClr val="C00000"/>
                </a:solidFill>
                <a:latin typeface="+mn-ea"/>
                <a:ea typeface="+mn-ea"/>
              </a:rPr>
              <a:t>对象）、以及状态空间模型（</a:t>
            </a:r>
            <a:r>
              <a:rPr lang="en-US" altLang="zh-CN" sz="2400" b="1" dirty="0">
                <a:solidFill>
                  <a:srgbClr val="C00000"/>
                </a:solidFill>
                <a:latin typeface="+mn-ea"/>
                <a:ea typeface="+mn-ea"/>
              </a:rPr>
              <a:t>ss</a:t>
            </a:r>
            <a:r>
              <a:rPr lang="zh-CN" altLang="en-US" sz="2400" b="1" dirty="0">
                <a:solidFill>
                  <a:srgbClr val="C00000"/>
                </a:solidFill>
                <a:latin typeface="+mn-ea"/>
                <a:ea typeface="+mn-ea"/>
              </a:rPr>
              <a:t>对象）</a:t>
            </a:r>
            <a:r>
              <a:rPr lang="zh-CN" altLang="en-US" sz="2400" dirty="0">
                <a:latin typeface="+mn-ea"/>
                <a:ea typeface="+mn-ea"/>
              </a:rPr>
              <a:t>。经典控制理论中数学模型一般使用前</a:t>
            </a:r>
            <a:r>
              <a:rPr lang="en-US" altLang="zh-CN" sz="2400" dirty="0">
                <a:latin typeface="+mn-ea"/>
                <a:ea typeface="+mn-ea"/>
              </a:rPr>
              <a:t>2</a:t>
            </a:r>
            <a:r>
              <a:rPr lang="zh-CN" altLang="en-US" sz="2400" dirty="0">
                <a:latin typeface="+mn-ea"/>
                <a:ea typeface="+mn-ea"/>
              </a:rPr>
              <a:t>种模型，状态空间模型属于现代控制理论范畴。</a:t>
            </a:r>
            <a:endParaRPr lang="zh-CN" altLang="zh-CN" sz="2400" dirty="0">
              <a:latin typeface="+mn-ea"/>
              <a:ea typeface="+mn-ea"/>
            </a:endParaRPr>
          </a:p>
        </p:txBody>
      </p:sp>
      <p:sp>
        <p:nvSpPr>
          <p:cNvPr id="3" name="TextBox 4"/>
          <p:cNvSpPr txBox="1"/>
          <p:nvPr/>
        </p:nvSpPr>
        <p:spPr>
          <a:xfrm>
            <a:off x="58727" y="379497"/>
            <a:ext cx="2424123" cy="49244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6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五、实验步骤</a:t>
            </a:r>
            <a:endParaRPr lang="zh-CN" altLang="en-US" sz="2600" b="1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43724" y="1386376"/>
            <a:ext cx="872928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zh-CN" altLang="en-US" sz="2400" b="1" kern="100" dirty="0">
                <a:solidFill>
                  <a:srgbClr val="0070C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控制系统模型的建立</a:t>
            </a:r>
            <a:endParaRPr lang="zh-CN" altLang="en-US" sz="2400" b="1" kern="100" dirty="0">
              <a:solidFill>
                <a:srgbClr val="0070C0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75B5F-B1CF-4E91-A04E-D39648BDF170}" type="slidenum">
              <a:rPr lang="en-US" altLang="zh-CN" smtClean="0"/>
            </a:fld>
            <a:endParaRPr lang="en-US" altLang="zh-CN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23528" y="1173981"/>
            <a:ext cx="6405364" cy="461665"/>
          </a:xfrm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p"/>
            </a:pPr>
            <a:r>
              <a:rPr lang="en-US" altLang="zh-CN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传递函数模型（也称为多项式模型）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4568652" y="1741803"/>
          <a:ext cx="3095765" cy="5936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Equation" r:id="rId1" imgW="2819400" imgH="457200" progId="Equation.DSMT4">
                  <p:embed/>
                </p:oleObj>
              </mc:Choice>
              <mc:Fallback>
                <p:oleObj name="Equation" r:id="rId1" imgW="2819400" imgH="457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8652" y="1741803"/>
                        <a:ext cx="3095765" cy="59361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2984475" y="2798563"/>
          <a:ext cx="1648319" cy="3433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Equation" r:id="rId3" imgW="1270000" imgH="228600" progId="Equation.DSMT4">
                  <p:embed/>
                </p:oleObj>
              </mc:Choice>
              <mc:Fallback>
                <p:oleObj name="Equation" r:id="rId3" imgW="1270000" imgH="228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4475" y="2798563"/>
                        <a:ext cx="1648319" cy="34337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5228322" y="2798563"/>
          <a:ext cx="1560956" cy="3326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Equation" r:id="rId5" imgW="1231265" imgH="228600" progId="Equation.DSMT4">
                  <p:embed/>
                </p:oleObj>
              </mc:Choice>
              <mc:Fallback>
                <p:oleObj name="Equation" r:id="rId5" imgW="1231265" imgH="228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8322" y="2798563"/>
                        <a:ext cx="1560956" cy="33267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752228" y="1774194"/>
            <a:ext cx="792088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355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连续系统的传递函数模型为</a:t>
            </a: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355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7"/>
          <p:cNvSpPr>
            <a:spLocks noChangeArrowheads="1"/>
          </p:cNvSpPr>
          <p:nvPr/>
        </p:nvSpPr>
        <p:spPr bwMode="auto">
          <a:xfrm>
            <a:off x="752228" y="2438741"/>
            <a:ext cx="792088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355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MATLAB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中用分子、分母多项式系数按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的降幂次序构成两个向量：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Rectangle 9"/>
          <p:cNvSpPr>
            <a:spLocks noChangeArrowheads="1"/>
          </p:cNvSpPr>
          <p:nvPr/>
        </p:nvSpPr>
        <p:spPr bwMode="auto">
          <a:xfrm>
            <a:off x="711052" y="3223103"/>
            <a:ext cx="7920880" cy="984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indent="355600" eaLnBrk="0" hangingPunct="0"/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用函数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tf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 )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来输出控制系统的函数，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用函数</a:t>
            </a:r>
            <a:r>
              <a:rPr kumimoji="0" lang="en-US" altLang="zh-CN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printsys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 )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来打印控制系统的函数，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其命令调用格式为 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355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Rectangle 11"/>
          <p:cNvSpPr>
            <a:spLocks noChangeArrowheads="1"/>
          </p:cNvSpPr>
          <p:nvPr/>
        </p:nvSpPr>
        <p:spPr bwMode="auto">
          <a:xfrm>
            <a:off x="2408412" y="3952096"/>
            <a:ext cx="3024336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indent="355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355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cs typeface="Arial" panose="020B0604020202020204" pitchFamily="34" charset="0"/>
              </a:rPr>
              <a:t>sys=</a:t>
            </a:r>
            <a:r>
              <a:rPr kumimoji="0" lang="en-US" altLang="zh-CN" sz="20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cs typeface="Arial" panose="020B0604020202020204" pitchFamily="34" charset="0"/>
              </a:rPr>
              <a:t>tf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cs typeface="Arial" panose="020B0604020202020204" pitchFamily="34" charset="0"/>
              </a:rPr>
              <a:t>(</a:t>
            </a:r>
            <a:r>
              <a:rPr kumimoji="0" lang="en-US" altLang="zh-CN" sz="20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cs typeface="Arial" panose="020B0604020202020204" pitchFamily="34" charset="0"/>
              </a:rPr>
              <a:t>num,den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cs typeface="Arial" panose="020B0604020202020204" pitchFamily="34" charset="0"/>
              </a:rPr>
              <a:t>)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</a:endParaRPr>
          </a:p>
          <a:p>
            <a:pPr marL="0" marR="0" lvl="0" indent="355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0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cs typeface="Arial" panose="020B0604020202020204" pitchFamily="34" charset="0"/>
              </a:rPr>
              <a:t>printsys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cs typeface="Arial" panose="020B0604020202020204" pitchFamily="34" charset="0"/>
              </a:rPr>
              <a:t>(</a:t>
            </a:r>
            <a:r>
              <a:rPr kumimoji="0" lang="en-US" altLang="zh-CN" sz="20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cs typeface="Arial" panose="020B0604020202020204" pitchFamily="34" charset="0"/>
              </a:rPr>
              <a:t>num,den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cs typeface="Arial" panose="020B0604020202020204" pitchFamily="34" charset="0"/>
              </a:rPr>
              <a:t>)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8727" y="379497"/>
            <a:ext cx="2424123" cy="49244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6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五、实验步骤</a:t>
            </a:r>
            <a:endParaRPr lang="zh-CN" altLang="en-US" sz="2600" b="1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467544" y="1203598"/>
            <a:ext cx="8136904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3556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zh-CN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【例】已知系统传递函数为</a:t>
            </a:r>
            <a:r>
              <a:rPr lang="en-US" altLang="zh-CN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                     </a:t>
            </a:r>
            <a:r>
              <a:rPr lang="zh-CN" altLang="en-US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，</a:t>
            </a:r>
            <a:r>
              <a:rPr lang="zh-CN" altLang="zh-CN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建立系统的传递函数模型</a:t>
            </a:r>
            <a:r>
              <a:rPr lang="zh-CN" altLang="zh-CN" sz="18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355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9"/>
          <p:cNvSpPr>
            <a:spLocks noChangeArrowheads="1"/>
          </p:cNvSpPr>
          <p:nvPr/>
        </p:nvSpPr>
        <p:spPr bwMode="auto">
          <a:xfrm>
            <a:off x="426368" y="1677451"/>
            <a:ext cx="637788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indent="355600" eaLnBrk="0" hangingPunct="0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MATLAB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程序为：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355600" eaLnBrk="0" hangingPunct="0"/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num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=[1 3]; %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分子多项式系数向量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355600" eaLnBrk="0" hangingPunct="0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den=[1 2 2 1]; %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分母多项式系数向量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355600" eaLnBrk="0" hangingPunct="0"/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printsys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num,den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%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构造系统传递函数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G(s)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并输出显示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355600" eaLnBrk="0" hangingPunct="0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运行后命令行窗口显示： 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355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3851920" y="1203598"/>
          <a:ext cx="1447800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Equation" r:id="rId1" imgW="1447165" imgH="393700" progId="Equation.DSMT4">
                  <p:embed/>
                </p:oleObj>
              </mc:Choice>
              <mc:Fallback>
                <p:oleObj name="Equation" r:id="rId1" imgW="1447165" imgH="3937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920" y="1203598"/>
                        <a:ext cx="1447800" cy="390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6467" y="3011562"/>
            <a:ext cx="1799058" cy="1203051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  <p:sp>
        <p:nvSpPr>
          <p:cNvPr id="2" name="TextBox 4"/>
          <p:cNvSpPr txBox="1"/>
          <p:nvPr/>
        </p:nvSpPr>
        <p:spPr>
          <a:xfrm>
            <a:off x="58727" y="379497"/>
            <a:ext cx="2424123" cy="49244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6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五、实验步骤</a:t>
            </a:r>
            <a:endParaRPr lang="zh-CN" altLang="en-US" sz="2600" b="1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539552" y="1347614"/>
            <a:ext cx="8136904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zh-CN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【例】已知系统传递函数为</a:t>
            </a:r>
            <a:r>
              <a:rPr lang="en-US" altLang="zh-CN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                        </a:t>
            </a:r>
            <a:r>
              <a:rPr lang="zh-CN" altLang="en-US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，</a:t>
            </a:r>
            <a:r>
              <a:rPr lang="zh-CN" altLang="zh-CN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建立系统的传递函数模型</a:t>
            </a:r>
            <a:r>
              <a:rPr lang="zh-CN" altLang="zh-CN" sz="18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355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9"/>
          <p:cNvSpPr>
            <a:spLocks noChangeArrowheads="1"/>
          </p:cNvSpPr>
          <p:nvPr/>
        </p:nvSpPr>
        <p:spPr bwMode="auto">
          <a:xfrm>
            <a:off x="326876" y="1715004"/>
            <a:ext cx="834958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indent="355600" eaLnBrk="0" hangingPunct="0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s=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tf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('s')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命令来定义传递函数的拉普拉斯变换的变量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，然后就可以直接按数学表达式的形式建立系统的传递函数模型。 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355600" eaLnBrk="0" hangingPunct="0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s=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tf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('s');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355600" eaLnBrk="0" hangingPunct="0"/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Gs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=(5*(s+2)^2*(s^2+6*s+7))/(s*(s+1)^3*(s^3+2*s+1))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355600" eaLnBrk="0" hangingPunct="0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运行后命令行窗口显示： 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355600" eaLnBrk="0" hangingPunct="0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3529558" y="1307728"/>
          <a:ext cx="1762125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Equation" r:id="rId1" imgW="1752600" imgH="444500" progId="Equation.DSMT4">
                  <p:embed/>
                </p:oleObj>
              </mc:Choice>
              <mc:Fallback>
                <p:oleObj name="Equation" r:id="rId1" imgW="1752600" imgH="4445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9558" y="1307728"/>
                        <a:ext cx="1762125" cy="438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5856" y="2941790"/>
            <a:ext cx="3333378" cy="1275934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  <p:sp>
        <p:nvSpPr>
          <p:cNvPr id="2" name="TextBox 4"/>
          <p:cNvSpPr txBox="1"/>
          <p:nvPr/>
        </p:nvSpPr>
        <p:spPr>
          <a:xfrm>
            <a:off x="58727" y="379497"/>
            <a:ext cx="2424123" cy="49244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6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五、实验步骤</a:t>
            </a:r>
            <a:endParaRPr lang="zh-CN" altLang="en-US" sz="2600" b="1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51520" y="1173981"/>
            <a:ext cx="6405364" cy="461665"/>
          </a:xfrm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p"/>
            </a:pPr>
            <a:r>
              <a:rPr lang="en-US" altLang="zh-CN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零极点增益模型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606699" y="1737779"/>
            <a:ext cx="792088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这是传递函数模型的另一种表现形式，其原理是分别对原传递函数的分子、分母进行因式分解，以获得系统的零点和极点的表示形式。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9"/>
          <p:cNvSpPr>
            <a:spLocks noChangeArrowheads="1"/>
          </p:cNvSpPr>
          <p:nvPr/>
        </p:nvSpPr>
        <p:spPr bwMode="auto">
          <a:xfrm>
            <a:off x="531442" y="3228780"/>
            <a:ext cx="792088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eaLnBrk="0" hangingPunct="0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MATLAB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中，用向量              构成向量组               表示系统，即 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Rectangle 11"/>
          <p:cNvSpPr>
            <a:spLocks noChangeArrowheads="1"/>
          </p:cNvSpPr>
          <p:nvPr/>
        </p:nvSpPr>
        <p:spPr bwMode="auto">
          <a:xfrm>
            <a:off x="6486747" y="4203253"/>
            <a:ext cx="223701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indent="355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355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1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sys=</a:t>
            </a:r>
            <a:r>
              <a:rPr lang="en-US" altLang="zh-CN" sz="1800" dirty="0" err="1">
                <a:solidFill>
                  <a:srgbClr val="FF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zpk</a:t>
            </a:r>
            <a:r>
              <a:rPr lang="en-US" altLang="zh-CN" sz="1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(</a:t>
            </a:r>
            <a:r>
              <a:rPr lang="en-US" altLang="zh-CN" sz="1800" dirty="0" err="1">
                <a:solidFill>
                  <a:srgbClr val="FF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z,p,k</a:t>
            </a:r>
            <a:r>
              <a:rPr lang="en-US" altLang="zh-CN" sz="1800" dirty="0">
                <a:solidFill>
                  <a:srgbClr val="FF0000"/>
                </a:solidFill>
                <a:effectLst/>
              </a:rPr>
              <a:t>) 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2552428" y="2504553"/>
          <a:ext cx="3305851" cy="6701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Equation" r:id="rId1" imgW="2108200" imgH="431800" progId="Equation.DSMT4">
                  <p:embed/>
                </p:oleObj>
              </mc:Choice>
              <mc:Fallback>
                <p:oleObj name="Equation" r:id="rId1" imgW="2108200" imgH="4318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2428" y="2504553"/>
                        <a:ext cx="3305851" cy="67010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5576764" y="3280230"/>
          <a:ext cx="886022" cy="2819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Equation" r:id="rId3" imgW="635000" imgH="203200" progId="Equation.DSMT4">
                  <p:embed/>
                </p:oleObj>
              </mc:Choice>
              <mc:Fallback>
                <p:oleObj name="Equation" r:id="rId3" imgW="635000" imgH="203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6764" y="3280230"/>
                        <a:ext cx="886022" cy="28191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3344516" y="3290338"/>
          <a:ext cx="765201" cy="2819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Equation" r:id="rId5" imgW="545465" imgH="203200" progId="Equation.DSMT4">
                  <p:embed/>
                </p:oleObj>
              </mc:Choice>
              <mc:Fallback>
                <p:oleObj name="Equation" r:id="rId5" imgW="545465" imgH="203200" progId="Equation.DSMT4">
                  <p:embed/>
                  <p:pic>
                    <p:nvPicPr>
                      <p:cNvPr id="0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4516" y="3290338"/>
                        <a:ext cx="765201" cy="28191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3" name="图片 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82500" y="3641776"/>
            <a:ext cx="5018400" cy="501840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  <p:sp>
        <p:nvSpPr>
          <p:cNvPr id="26" name="Rectangle 12"/>
          <p:cNvSpPr>
            <a:spLocks noChangeArrowheads="1"/>
          </p:cNvSpPr>
          <p:nvPr/>
        </p:nvSpPr>
        <p:spPr bwMode="auto">
          <a:xfrm>
            <a:off x="138956" y="4187864"/>
            <a:ext cx="711765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355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用函数命令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zpk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来建立零极点增益模型，其调用格式为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TextBox 4"/>
          <p:cNvSpPr txBox="1"/>
          <p:nvPr/>
        </p:nvSpPr>
        <p:spPr>
          <a:xfrm>
            <a:off x="58727" y="379497"/>
            <a:ext cx="2424123" cy="49244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6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五、实验步骤</a:t>
            </a:r>
            <a:endParaRPr lang="zh-CN" altLang="en-US" sz="2600" b="1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107504" y="1131590"/>
            <a:ext cx="813690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zh-CN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【例</a:t>
            </a:r>
            <a:r>
              <a:rPr lang="en-US" altLang="zh-CN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】</a:t>
            </a:r>
            <a:r>
              <a:rPr lang="zh-CN" altLang="en-US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已知系统传递函数为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                        , </a:t>
            </a:r>
            <a:r>
              <a:rPr lang="zh-CN" altLang="en-US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建立系统的零极点增益模型。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9"/>
          <p:cNvSpPr>
            <a:spLocks noChangeArrowheads="1"/>
          </p:cNvSpPr>
          <p:nvPr/>
        </p:nvSpPr>
        <p:spPr bwMode="auto">
          <a:xfrm>
            <a:off x="-213184" y="1573493"/>
            <a:ext cx="766368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indent="355600" eaLnBrk="0" hangingPunct="0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MATLAB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程序为： 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355600" eaLnBrk="0" hangingPunct="0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k=10;    %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赋增益值，标量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355600" eaLnBrk="0" hangingPunct="0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z=[-5];  %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赋零点值，向量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355600" eaLnBrk="0" hangingPunct="0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p=[-0.5 -2 -3]; %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赋极点值，向量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355600" eaLnBrk="0" hangingPunct="0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sys=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zpk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z,p,k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355600" eaLnBrk="0" hangingPunct="0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运行后命令行窗口显示：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3095836" y="1117231"/>
          <a:ext cx="177165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Equation" r:id="rId1" imgW="1765300" imgH="419100" progId="Equation.DSMT4">
                  <p:embed/>
                </p:oleObj>
              </mc:Choice>
              <mc:Fallback>
                <p:oleObj name="Equation" r:id="rId1" imgW="1765300" imgH="4191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5836" y="1117231"/>
                        <a:ext cx="1771650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3488" y="1985599"/>
            <a:ext cx="2657475" cy="1809750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  <p:sp>
        <p:nvSpPr>
          <p:cNvPr id="2" name="TextBox 4"/>
          <p:cNvSpPr txBox="1"/>
          <p:nvPr/>
        </p:nvSpPr>
        <p:spPr>
          <a:xfrm>
            <a:off x="58727" y="379497"/>
            <a:ext cx="2424123" cy="49244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6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五、实验步骤</a:t>
            </a:r>
            <a:endParaRPr lang="zh-CN" altLang="en-US" sz="2600" b="1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79512" y="1245519"/>
            <a:ext cx="6405364" cy="461665"/>
          </a:xfrm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p"/>
            </a:pPr>
            <a:r>
              <a:rPr lang="en-US" altLang="zh-CN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特别地，对二阶控制系统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590006" y="2044618"/>
            <a:ext cx="813690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在</a:t>
            </a:r>
            <a:r>
              <a:rPr lang="en-US" altLang="zh-CN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MATLAB</a:t>
            </a:r>
            <a:r>
              <a:rPr lang="zh-CN" altLang="en-US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中，用函数命令</a:t>
            </a:r>
            <a:r>
              <a:rPr lang="en-US" altLang="zh-CN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ord2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zh-CN" altLang="en-US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）来建立二阶控制系统的标准模型 </a:t>
            </a:r>
            <a:br>
              <a:rPr lang="en-US" altLang="zh-CN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</a:br>
            <a:endParaRPr lang="en-US" altLang="zh-CN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，其函数调用格式为：</a:t>
            </a:r>
            <a:r>
              <a:rPr lang="en-US" altLang="zh-CN" sz="1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[</a:t>
            </a:r>
            <a:r>
              <a:rPr lang="en-US" altLang="zh-CN" sz="1800" dirty="0" err="1">
                <a:solidFill>
                  <a:srgbClr val="FF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num,den</a:t>
            </a:r>
            <a:r>
              <a:rPr lang="en-US" altLang="zh-CN" sz="1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]=ord2(</a:t>
            </a:r>
            <a:r>
              <a:rPr lang="en-US" altLang="zh-CN" sz="1800" dirty="0" err="1">
                <a:solidFill>
                  <a:srgbClr val="FF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wn,zeta</a:t>
            </a:r>
            <a:r>
              <a:rPr lang="en-US" altLang="zh-CN" sz="1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4136604" y="163415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5000700" y="216884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7594566" y="1900602"/>
          <a:ext cx="1294566" cy="576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Equation" r:id="rId1" imgW="965200" imgH="431800" progId="Equation.DSMT4">
                  <p:embed/>
                </p:oleObj>
              </mc:Choice>
              <mc:Fallback>
                <p:oleObj name="Equation" r:id="rId1" imgW="965200" imgH="431800" progId="Equation.DSMT4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94566" y="1900602"/>
                        <a:ext cx="1294566" cy="5767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7"/>
          <p:cNvSpPr>
            <a:spLocks noChangeArrowheads="1"/>
          </p:cNvSpPr>
          <p:nvPr/>
        </p:nvSpPr>
        <p:spPr bwMode="auto">
          <a:xfrm>
            <a:off x="635113" y="3244790"/>
            <a:ext cx="8046690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eaLnBrk="0" hangingPunct="0"/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其中，</a:t>
            </a:r>
            <a:r>
              <a:rPr kumimoji="0" lang="en-US" altLang="zh-CN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wn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为二阶系统的无阻尼自然振荡频率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, zeta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为二阶系统的阻尼比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。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其函数功能是：根据已知的自然频率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和阻尼比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值，建立连续二阶系统，输出该系统的分子项系数向量</a:t>
            </a: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num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和分母项系数向量</a:t>
            </a: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den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。</a:t>
            </a: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Box 4"/>
          <p:cNvSpPr txBox="1"/>
          <p:nvPr/>
        </p:nvSpPr>
        <p:spPr>
          <a:xfrm>
            <a:off x="58727" y="379497"/>
            <a:ext cx="2424123" cy="49244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6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五、实验步骤</a:t>
            </a:r>
            <a:endParaRPr lang="zh-CN" altLang="en-US" sz="2600" b="1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143508" y="1345109"/>
            <a:ext cx="813690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【</a:t>
            </a:r>
            <a:r>
              <a:rPr lang="zh-CN" altLang="en-US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例</a:t>
            </a:r>
            <a:r>
              <a:rPr lang="en-US" altLang="zh-CN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】</a:t>
            </a:r>
            <a:r>
              <a:rPr lang="zh-CN" altLang="en-US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已知二阶系统的自然频率         ，阻尼比         ，建立其传递函数。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9"/>
          <p:cNvSpPr>
            <a:spLocks noChangeArrowheads="1"/>
          </p:cNvSpPr>
          <p:nvPr/>
        </p:nvSpPr>
        <p:spPr bwMode="auto">
          <a:xfrm>
            <a:off x="-177180" y="2064010"/>
            <a:ext cx="766368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indent="355600" eaLnBrk="0" hangingPunct="0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】MATLAB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程序为： 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355600" eaLnBrk="0" hangingPunct="0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num,den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]=ord2(1,0.5);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355600" eaLnBrk="0" hangingPunct="0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G=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tf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num,den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355600" eaLnBrk="0" hangingPunct="0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运行后命令行窗口显示：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3419872" y="1419622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4283968" y="1954312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3635896" y="1379282"/>
          <a:ext cx="436096" cy="2828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Equation" r:id="rId1" imgW="355600" imgH="228600" progId="Equation.DSMT4">
                  <p:embed/>
                </p:oleObj>
              </mc:Choice>
              <mc:Fallback>
                <p:oleObj name="Equation" r:id="rId1" imgW="355600" imgH="2286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896" y="1379282"/>
                        <a:ext cx="436096" cy="28287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5004048" y="1393969"/>
          <a:ext cx="597176" cy="2786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Equation" r:id="rId3" imgW="431800" imgH="203200" progId="Equation.DSMT4">
                  <p:embed/>
                </p:oleObj>
              </mc:Choice>
              <mc:Fallback>
                <p:oleObj name="Equation" r:id="rId3" imgW="431800" imgH="203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4048" y="1393969"/>
                        <a:ext cx="597176" cy="27868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图片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1992" y="2311869"/>
            <a:ext cx="2000250" cy="1743075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  <p:sp>
        <p:nvSpPr>
          <p:cNvPr id="3" name="TextBox 4"/>
          <p:cNvSpPr txBox="1"/>
          <p:nvPr/>
        </p:nvSpPr>
        <p:spPr>
          <a:xfrm>
            <a:off x="58727" y="379497"/>
            <a:ext cx="2424123" cy="49244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6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五、实验步骤</a:t>
            </a:r>
            <a:endParaRPr lang="zh-CN" altLang="en-US" sz="2600" b="1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51520" y="1276439"/>
            <a:ext cx="6405364" cy="461665"/>
          </a:xfrm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p"/>
            </a:pPr>
            <a:r>
              <a:rPr lang="en-US" altLang="zh-CN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部分分式展开模型</a:t>
            </a:r>
            <a:endParaRPr lang="zh-CN" altLang="en-US" sz="24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3060" y="1923678"/>
            <a:ext cx="6405364" cy="2648921"/>
          </a:xfrm>
          <a:prstGeom prst="rect">
            <a:avLst/>
          </a:prstGeom>
        </p:spPr>
      </p:pic>
      <p:sp>
        <p:nvSpPr>
          <p:cNvPr id="2" name="TextBox 4"/>
          <p:cNvSpPr txBox="1"/>
          <p:nvPr/>
        </p:nvSpPr>
        <p:spPr>
          <a:xfrm>
            <a:off x="58727" y="379497"/>
            <a:ext cx="2424123" cy="49244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6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五、实验步骤</a:t>
            </a:r>
            <a:endParaRPr lang="zh-CN" altLang="en-US" sz="2600" b="1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3704556" y="163415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4568652" y="216884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0114" y="1563638"/>
            <a:ext cx="7077075" cy="1704975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58727" y="379497"/>
            <a:ext cx="2424123" cy="49244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6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五、实验步骤</a:t>
            </a:r>
            <a:endParaRPr lang="zh-CN" altLang="en-US" sz="2600" b="1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755576" y="2067694"/>
            <a:ext cx="8136904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函数调用格式为：</a:t>
            </a:r>
            <a:endParaRPr lang="zh-CN" altLang="en-US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[</a:t>
            </a:r>
            <a:r>
              <a:rPr lang="en-US" altLang="zh-CN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num,den</a:t>
            </a:r>
            <a:r>
              <a:rPr lang="en-US" altLang="zh-CN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]=zp2tf(</a:t>
            </a:r>
            <a:r>
              <a:rPr lang="en-US" altLang="zh-CN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z,p,k</a:t>
            </a:r>
            <a:r>
              <a:rPr lang="en-US" altLang="zh-CN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)  %</a:t>
            </a:r>
            <a:r>
              <a:rPr lang="zh-CN" altLang="en-US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零极点模型转换为传递函数模型</a:t>
            </a:r>
            <a:endParaRPr lang="en-US" altLang="zh-CN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[</a:t>
            </a:r>
            <a:r>
              <a:rPr lang="en-US" altLang="zh-CN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z,p,k</a:t>
            </a:r>
            <a:r>
              <a:rPr lang="en-US" altLang="zh-CN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]=tf2zp(</a:t>
            </a:r>
            <a:r>
              <a:rPr lang="en-US" altLang="zh-CN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num,den</a:t>
            </a:r>
            <a:r>
              <a:rPr lang="en-US" altLang="zh-CN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)  %</a:t>
            </a:r>
            <a:r>
              <a:rPr lang="zh-CN" altLang="en-US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传递函数模型转换为零极点模型</a:t>
            </a:r>
            <a:endParaRPr lang="en-US" altLang="zh-CN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[</a:t>
            </a:r>
            <a:r>
              <a:rPr lang="en-US" altLang="zh-CN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r,p,k</a:t>
            </a:r>
            <a:r>
              <a:rPr lang="en-US" altLang="zh-CN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]=residue(</a:t>
            </a:r>
            <a:r>
              <a:rPr lang="en-US" altLang="zh-CN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num,den</a:t>
            </a:r>
            <a:r>
              <a:rPr lang="en-US" altLang="zh-CN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) %</a:t>
            </a:r>
            <a:r>
              <a:rPr lang="zh-CN" altLang="en-US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传递函数模型转换为部分分数展开式模型</a:t>
            </a:r>
            <a:endParaRPr lang="en-US" altLang="zh-CN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[</a:t>
            </a:r>
            <a:r>
              <a:rPr lang="en-US" altLang="zh-CN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num,den</a:t>
            </a:r>
            <a:r>
              <a:rPr lang="en-US" altLang="zh-CN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]=residue(</a:t>
            </a:r>
            <a:r>
              <a:rPr lang="en-US" altLang="zh-CN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r,p,k</a:t>
            </a:r>
            <a:r>
              <a:rPr lang="en-US" altLang="zh-CN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) %</a:t>
            </a:r>
            <a:r>
              <a:rPr lang="zh-CN" altLang="en-US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部分分数展开式模型转换为传递函数模型</a:t>
            </a:r>
            <a:endParaRPr lang="zh-CN" altLang="en-US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51520" y="1347614"/>
            <a:ext cx="6405364" cy="461665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控制系统模型间的相互转换</a:t>
            </a:r>
            <a:endParaRPr lang="zh-CN" altLang="en-US" sz="24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TextBox 4"/>
          <p:cNvSpPr txBox="1"/>
          <p:nvPr/>
        </p:nvSpPr>
        <p:spPr>
          <a:xfrm>
            <a:off x="58727" y="379497"/>
            <a:ext cx="2424123" cy="49244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6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五、实验步骤</a:t>
            </a:r>
            <a:endParaRPr lang="zh-CN" altLang="en-US" sz="2600" b="1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3483496" y="1300942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4347592" y="1835632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983" y="1972553"/>
            <a:ext cx="2457450" cy="15621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2271" y="1888416"/>
            <a:ext cx="5495925" cy="78105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7472" y="3063165"/>
            <a:ext cx="3571875" cy="942975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520" y="1059582"/>
            <a:ext cx="4695825" cy="523875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58727" y="379497"/>
            <a:ext cx="2424123" cy="49244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6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五、实验步骤</a:t>
            </a:r>
            <a:endParaRPr lang="zh-CN" altLang="en-US" sz="2600" b="1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3419872" y="113159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4283968" y="166628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35496" y="1131590"/>
            <a:ext cx="813690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【</a:t>
            </a:r>
            <a:r>
              <a:rPr lang="zh-CN" altLang="en-US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例</a:t>
            </a:r>
            <a:r>
              <a:rPr lang="en-US" altLang="zh-CN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】</a:t>
            </a:r>
            <a:r>
              <a:rPr lang="zh-CN" altLang="en-US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巳知系统传递函数                                 ，求其等效的零极点模型。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3059832" y="957712"/>
          <a:ext cx="1787756" cy="643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Equation" r:id="rId1" imgW="1180465" imgH="419100" progId="Equation.DSMT4">
                  <p:embed/>
                </p:oleObj>
              </mc:Choice>
              <mc:Fallback>
                <p:oleObj name="Equation" r:id="rId1" imgW="1180465" imgH="4191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832" y="957712"/>
                        <a:ext cx="1787756" cy="64359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335" y="1851670"/>
            <a:ext cx="3762375" cy="2295525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2382" y="2157833"/>
            <a:ext cx="2809875" cy="1847850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  <p:sp>
        <p:nvSpPr>
          <p:cNvPr id="3" name="TextBox 4"/>
          <p:cNvSpPr txBox="1"/>
          <p:nvPr/>
        </p:nvSpPr>
        <p:spPr>
          <a:xfrm>
            <a:off x="58727" y="379497"/>
            <a:ext cx="2424123" cy="49244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6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五、实验步骤</a:t>
            </a:r>
            <a:endParaRPr lang="zh-CN" altLang="en-US" sz="2600" b="1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23528" y="1158072"/>
            <a:ext cx="6768752" cy="461665"/>
          </a:xfrm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控制系统模型连接后的等效传递函数</a:t>
            </a:r>
            <a:endParaRPr lang="zh-CN" altLang="en-US" sz="24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4067944" y="2066826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4932040" y="2601516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7664" y="1780694"/>
            <a:ext cx="5756839" cy="3267942"/>
          </a:xfrm>
          <a:prstGeom prst="rect">
            <a:avLst/>
          </a:prstGeom>
        </p:spPr>
      </p:pic>
      <p:sp>
        <p:nvSpPr>
          <p:cNvPr id="3" name="TextBox 4"/>
          <p:cNvSpPr txBox="1"/>
          <p:nvPr/>
        </p:nvSpPr>
        <p:spPr>
          <a:xfrm>
            <a:off x="58727" y="379497"/>
            <a:ext cx="2424123" cy="49244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6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五、实验步骤</a:t>
            </a:r>
            <a:endParaRPr lang="zh-CN" altLang="en-US" sz="2600" b="1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23528" y="1091521"/>
            <a:ext cx="6768752" cy="461665"/>
          </a:xfrm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控制系统模型连接后的等效传递函数</a:t>
            </a:r>
            <a:endParaRPr lang="zh-CN" altLang="en-US" sz="24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4067944" y="2066826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4932040" y="2601516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3648" y="1603381"/>
            <a:ext cx="6040179" cy="3388393"/>
          </a:xfrm>
          <a:prstGeom prst="rect">
            <a:avLst/>
          </a:prstGeom>
        </p:spPr>
      </p:pic>
      <p:sp>
        <p:nvSpPr>
          <p:cNvPr id="3" name="TextBox 4"/>
          <p:cNvSpPr txBox="1"/>
          <p:nvPr/>
        </p:nvSpPr>
        <p:spPr>
          <a:xfrm>
            <a:off x="58727" y="379497"/>
            <a:ext cx="2424123" cy="49244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6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五、实验步骤</a:t>
            </a:r>
            <a:endParaRPr lang="zh-CN" altLang="en-US" sz="2600" b="1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75B5F-B1CF-4E91-A04E-D39648BDF170}" type="slidenum">
              <a:rPr lang="en-US" altLang="zh-CN" smtClean="0"/>
            </a:fld>
            <a:endParaRPr lang="en-US" altLang="zh-CN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23528" y="1266782"/>
            <a:ext cx="5973316" cy="461665"/>
          </a:xfrm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控制系统模型连接后的等效传递函数</a:t>
            </a:r>
            <a:endParaRPr lang="zh-CN" altLang="en-US" sz="24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4067944" y="2066826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4932040" y="2601516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616" y="2032304"/>
            <a:ext cx="6629400" cy="173355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1115616" y="2569764"/>
                <a:ext cx="6307496" cy="68198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</m:oMath>
                  </m:oMathPara>
                </a14:m>
                <a:endParaRPr lang="zh-CN" altLang="en-US" sz="2000" dirty="0"/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616" y="2569764"/>
                <a:ext cx="6307496" cy="681982"/>
              </a:xfrm>
              <a:prstGeom prst="rect">
                <a:avLst/>
              </a:prstGeom>
              <a:blipFill rotWithShape="1">
                <a:blip r:embed="rId2"/>
                <a:stretch>
                  <a:fillRect l="-9" t="-81" r="9" b="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4"/>
          <p:cNvSpPr txBox="1"/>
          <p:nvPr/>
        </p:nvSpPr>
        <p:spPr>
          <a:xfrm>
            <a:off x="58727" y="379497"/>
            <a:ext cx="2424123" cy="49244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6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五、实验步骤</a:t>
            </a:r>
            <a:endParaRPr lang="zh-CN" altLang="en-US" sz="2600" b="1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4067944" y="2066826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4932040" y="2601516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80" y="1218700"/>
            <a:ext cx="3109664" cy="322186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6056" y="2472094"/>
            <a:ext cx="2943225" cy="1990725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  <p:sp>
        <p:nvSpPr>
          <p:cNvPr id="3" name="TextBox 4"/>
          <p:cNvSpPr txBox="1"/>
          <p:nvPr/>
        </p:nvSpPr>
        <p:spPr>
          <a:xfrm>
            <a:off x="58727" y="379497"/>
            <a:ext cx="2424123" cy="49244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6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五、实验步骤</a:t>
            </a:r>
            <a:endParaRPr lang="zh-CN" altLang="en-US" sz="2600" b="1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4067944" y="2066826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4932040" y="2601516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784" y="1419622"/>
            <a:ext cx="2808363" cy="277493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6561" y="2027239"/>
            <a:ext cx="2905125" cy="1484218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5547" y="3755876"/>
            <a:ext cx="4200525" cy="1066800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  <p:sp>
        <p:nvSpPr>
          <p:cNvPr id="3" name="TextBox 4"/>
          <p:cNvSpPr txBox="1"/>
          <p:nvPr/>
        </p:nvSpPr>
        <p:spPr>
          <a:xfrm>
            <a:off x="58727" y="379497"/>
            <a:ext cx="2424123" cy="49244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6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五、实验步骤</a:t>
            </a:r>
            <a:endParaRPr lang="zh-CN" altLang="en-US" sz="2600" b="1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84684" y="1084199"/>
            <a:ext cx="7766520" cy="461665"/>
          </a:xfrm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控制系统模型连接后的等效传递函数</a:t>
            </a:r>
            <a:endParaRPr lang="zh-CN" altLang="en-US" sz="24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4067944" y="2066826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4932040" y="2601516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502" y="1545864"/>
            <a:ext cx="6368918" cy="3168349"/>
          </a:xfrm>
          <a:prstGeom prst="rect">
            <a:avLst/>
          </a:prstGeom>
        </p:spPr>
      </p:pic>
      <p:sp>
        <p:nvSpPr>
          <p:cNvPr id="3" name="TextBox 4"/>
          <p:cNvSpPr txBox="1"/>
          <p:nvPr/>
        </p:nvSpPr>
        <p:spPr>
          <a:xfrm>
            <a:off x="58727" y="379497"/>
            <a:ext cx="2424123" cy="49244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6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五、实验步骤</a:t>
            </a:r>
            <a:endParaRPr lang="zh-CN" altLang="en-US" sz="2600" b="1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79512" y="1070472"/>
            <a:ext cx="6805193" cy="461665"/>
          </a:xfrm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控制系统模型连接后的等效传递函数</a:t>
            </a:r>
            <a:endParaRPr lang="zh-CN" altLang="en-US" sz="24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4067944" y="2066826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4932040" y="2601516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9125" y="1622436"/>
            <a:ext cx="2325185" cy="561702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5149" y="2306663"/>
            <a:ext cx="6169179" cy="2281311"/>
          </a:xfrm>
          <a:prstGeom prst="rect">
            <a:avLst/>
          </a:prstGeom>
        </p:spPr>
      </p:pic>
      <p:sp>
        <p:nvSpPr>
          <p:cNvPr id="3" name="TextBox 4"/>
          <p:cNvSpPr txBox="1"/>
          <p:nvPr/>
        </p:nvSpPr>
        <p:spPr>
          <a:xfrm>
            <a:off x="58727" y="379497"/>
            <a:ext cx="2424123" cy="49244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6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五、实验步骤</a:t>
            </a:r>
            <a:endParaRPr lang="zh-CN" altLang="en-US" sz="2600" b="1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99578" y="1147298"/>
            <a:ext cx="6405364" cy="461665"/>
          </a:xfrm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控制系统模型连接后的等效传递函数</a:t>
            </a:r>
            <a:endParaRPr lang="zh-CN" altLang="en-US" sz="24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4067944" y="2066826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4932040" y="2601516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971600" y="1928315"/>
            <a:ext cx="792088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【</a:t>
            </a:r>
            <a:r>
              <a:rPr lang="zh-CN" altLang="en-US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例</a:t>
            </a:r>
            <a:r>
              <a:rPr lang="en-US" altLang="zh-CN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】</a:t>
            </a:r>
            <a:r>
              <a:rPr lang="zh-CN" altLang="en-US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已知如下系统 ，求其负反馈闭环传递函数。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1895831" y="2602012"/>
          <a:ext cx="2316206" cy="8338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Equation" r:id="rId1" imgW="1180465" imgH="419100" progId="Equation.DSMT4">
                  <p:embed/>
                </p:oleObj>
              </mc:Choice>
              <mc:Fallback>
                <p:oleObj name="Equation" r:id="rId1" imgW="1180465" imgH="4191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5831" y="2602012"/>
                        <a:ext cx="2316206" cy="83383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5283555" y="2700105"/>
          <a:ext cx="1816835" cy="7094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Equation" r:id="rId3" imgW="989965" imgH="393700" progId="Equation.DSMT4">
                  <p:embed/>
                </p:oleObj>
              </mc:Choice>
              <mc:Fallback>
                <p:oleObj name="Equation" r:id="rId3" imgW="989965" imgH="3937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3555" y="2700105"/>
                        <a:ext cx="1816835" cy="70943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4"/>
          <p:cNvSpPr txBox="1"/>
          <p:nvPr/>
        </p:nvSpPr>
        <p:spPr>
          <a:xfrm>
            <a:off x="58727" y="379497"/>
            <a:ext cx="2424123" cy="49244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6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五、实验步骤</a:t>
            </a:r>
            <a:endParaRPr lang="zh-CN" altLang="en-US" sz="2600" b="1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568" y="1235753"/>
            <a:ext cx="3800475" cy="272415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2080" y="2597828"/>
            <a:ext cx="2882652" cy="2021170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  <p:sp>
        <p:nvSpPr>
          <p:cNvPr id="2" name="TextBox 4"/>
          <p:cNvSpPr txBox="1"/>
          <p:nvPr/>
        </p:nvSpPr>
        <p:spPr>
          <a:xfrm>
            <a:off x="58727" y="379497"/>
            <a:ext cx="2424123" cy="49244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6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五、实验步骤</a:t>
            </a:r>
            <a:endParaRPr lang="zh-CN" altLang="en-US" sz="2600" b="1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1965749" y="2067694"/>
          <a:ext cx="2278071" cy="5760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Equation" r:id="rId1" imgW="1663700" imgH="419100" progId="Equation.DSMT4">
                  <p:embed/>
                </p:oleObj>
              </mc:Choice>
              <mc:Fallback>
                <p:oleObj name="Equation" r:id="rId1" imgW="1663700" imgH="419100" progId="Equation.DSMT4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5749" y="2067694"/>
                        <a:ext cx="2278071" cy="57606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5288039" y="2083519"/>
          <a:ext cx="2103875" cy="5760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Equation" r:id="rId3" imgW="1600200" imgH="444500" progId="Equation.DSMT4">
                  <p:embed/>
                </p:oleObj>
              </mc:Choice>
              <mc:Fallback>
                <p:oleObj name="Equation" r:id="rId3" imgW="1600200" imgH="444500" progId="Equation.DSMT4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8039" y="2083519"/>
                        <a:ext cx="2103875" cy="57606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1039567" y="2213328"/>
            <a:ext cx="9261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6"/>
          <p:cNvSpPr>
            <a:spLocks noChangeArrowheads="1"/>
          </p:cNvSpPr>
          <p:nvPr/>
        </p:nvSpPr>
        <p:spPr bwMode="auto">
          <a:xfrm>
            <a:off x="4571731" y="2200874"/>
            <a:ext cx="9261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11"/>
          <p:cNvSpPr>
            <a:spLocks noChangeArrowheads="1"/>
          </p:cNvSpPr>
          <p:nvPr/>
        </p:nvSpPr>
        <p:spPr bwMode="auto">
          <a:xfrm>
            <a:off x="2473577" y="3219822"/>
            <a:ext cx="3024336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indent="355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355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cs typeface="Arial" panose="020B0604020202020204" pitchFamily="34" charset="0"/>
              </a:rPr>
              <a:t>sys=</a:t>
            </a:r>
            <a:r>
              <a:rPr kumimoji="0" lang="en-US" altLang="zh-CN" sz="20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cs typeface="Arial" panose="020B0604020202020204" pitchFamily="34" charset="0"/>
              </a:rPr>
              <a:t>tf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cs typeface="Arial" panose="020B0604020202020204" pitchFamily="34" charset="0"/>
              </a:rPr>
              <a:t>(</a:t>
            </a:r>
            <a:r>
              <a:rPr kumimoji="0" lang="en-US" altLang="zh-CN" sz="20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cs typeface="Arial" panose="020B0604020202020204" pitchFamily="34" charset="0"/>
              </a:rPr>
              <a:t>num,den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cs typeface="Arial" panose="020B0604020202020204" pitchFamily="34" charset="0"/>
              </a:rPr>
              <a:t>)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</a:endParaRPr>
          </a:p>
          <a:p>
            <a:pPr marL="0" marR="0" lvl="0" indent="355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0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cs typeface="Arial" panose="020B0604020202020204" pitchFamily="34" charset="0"/>
              </a:rPr>
              <a:t>printsys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cs typeface="Arial" panose="020B0604020202020204" pitchFamily="34" charset="0"/>
              </a:rPr>
              <a:t>(</a:t>
            </a:r>
            <a:r>
              <a:rPr kumimoji="0" lang="en-US" altLang="zh-CN" sz="20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cs typeface="Arial" panose="020B0604020202020204" pitchFamily="34" charset="0"/>
              </a:rPr>
              <a:t>num,den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cs typeface="Arial" panose="020B0604020202020204" pitchFamily="34" charset="0"/>
              </a:rPr>
              <a:t>)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</a:endParaRPr>
          </a:p>
        </p:txBody>
      </p:sp>
      <p:sp>
        <p:nvSpPr>
          <p:cNvPr id="2" name="TextBox 4"/>
          <p:cNvSpPr txBox="1"/>
          <p:nvPr/>
        </p:nvSpPr>
        <p:spPr>
          <a:xfrm>
            <a:off x="58727" y="379497"/>
            <a:ext cx="2424123" cy="49244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6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五、实验任务</a:t>
            </a:r>
            <a:endParaRPr lang="zh-CN" altLang="en-US" sz="2600" b="1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27584" y="1203598"/>
            <a:ext cx="443102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/>
              <a:t>任务</a:t>
            </a:r>
            <a:r>
              <a:rPr lang="en-US" altLang="zh-CN" sz="2000" dirty="0"/>
              <a:t>1</a:t>
            </a:r>
            <a:r>
              <a:rPr lang="zh-CN" altLang="en-US" sz="2000" dirty="0"/>
              <a:t>：建立控制系统的传递函数模型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99541" y="2557543"/>
            <a:ext cx="9261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4257324" y="2523187"/>
            <a:ext cx="9261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1491629" y="2437522"/>
          <a:ext cx="2431947" cy="5602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Equation" r:id="rId1" imgW="1816100" imgH="419100" progId="Equation.DSMT4">
                  <p:embed/>
                </p:oleObj>
              </mc:Choice>
              <mc:Fallback>
                <p:oleObj name="Equation" r:id="rId1" imgW="1816100" imgH="419100" progId="Equation.DSMT4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1629" y="2437522"/>
                        <a:ext cx="2431947" cy="56023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5148064" y="2427734"/>
          <a:ext cx="2049965" cy="5602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Equation" r:id="rId3" imgW="1536700" imgH="419100" progId="Equation.DSMT4">
                  <p:embed/>
                </p:oleObj>
              </mc:Choice>
              <mc:Fallback>
                <p:oleObj name="Equation" r:id="rId3" imgW="1536700" imgH="419100" progId="Equation.DSMT4">
                  <p:embed/>
                  <p:pic>
                    <p:nvPicPr>
                      <p:cNvPr id="0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064" y="2427734"/>
                        <a:ext cx="2049965" cy="56023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/>
          <p:cNvSpPr/>
          <p:nvPr/>
        </p:nvSpPr>
        <p:spPr>
          <a:xfrm>
            <a:off x="827584" y="1203598"/>
            <a:ext cx="468750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/>
              <a:t>任务</a:t>
            </a:r>
            <a:r>
              <a:rPr lang="en-US" altLang="zh-CN" sz="2000" dirty="0"/>
              <a:t>2</a:t>
            </a:r>
            <a:r>
              <a:rPr lang="zh-CN" altLang="en-US" sz="2000" dirty="0"/>
              <a:t>：建立控制系统的零极点增益模型</a:t>
            </a:r>
            <a:endParaRPr lang="zh-CN" altLang="en-US" sz="2000" dirty="0"/>
          </a:p>
          <a:p>
            <a:endParaRPr lang="zh-CN" altLang="en-US" sz="2000" dirty="0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2973136" y="3599676"/>
            <a:ext cx="223701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indent="355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355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1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sys=</a:t>
            </a:r>
            <a:r>
              <a:rPr lang="en-US" altLang="zh-CN" sz="1800" dirty="0" err="1">
                <a:solidFill>
                  <a:srgbClr val="FF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zpk</a:t>
            </a:r>
            <a:r>
              <a:rPr lang="en-US" altLang="zh-CN" sz="1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(</a:t>
            </a:r>
            <a:r>
              <a:rPr lang="en-US" altLang="zh-CN" sz="1800" dirty="0" err="1">
                <a:solidFill>
                  <a:srgbClr val="FF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z,p,k</a:t>
            </a:r>
            <a:r>
              <a:rPr lang="en-US" altLang="zh-CN" sz="1800" dirty="0">
                <a:solidFill>
                  <a:srgbClr val="FF0000"/>
                </a:solidFill>
                <a:effectLst/>
              </a:rPr>
              <a:t>) 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</a:endParaRPr>
          </a:p>
        </p:txBody>
      </p:sp>
      <p:sp>
        <p:nvSpPr>
          <p:cNvPr id="2" name="TextBox 4"/>
          <p:cNvSpPr txBox="1"/>
          <p:nvPr/>
        </p:nvSpPr>
        <p:spPr>
          <a:xfrm>
            <a:off x="58727" y="379497"/>
            <a:ext cx="2424123" cy="49244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6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六、实验任务</a:t>
            </a:r>
            <a:endParaRPr lang="zh-CN" altLang="en-US" sz="2600" b="1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7664" y="2067694"/>
            <a:ext cx="5465845" cy="1068198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827584" y="1203598"/>
            <a:ext cx="545694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/>
              <a:t>任务</a:t>
            </a:r>
            <a:r>
              <a:rPr lang="en-US" altLang="zh-CN" sz="2000" dirty="0"/>
              <a:t>3</a:t>
            </a:r>
            <a:r>
              <a:rPr lang="zh-CN" altLang="en-US" sz="2000" dirty="0"/>
              <a:t>：将系统传递函数转化为部分分式展开式</a:t>
            </a:r>
            <a:endParaRPr lang="zh-CN" altLang="en-US" sz="2000" dirty="0"/>
          </a:p>
          <a:p>
            <a:endParaRPr lang="zh-CN" altLang="en-US" sz="2000" dirty="0"/>
          </a:p>
        </p:txBody>
      </p:sp>
      <p:sp>
        <p:nvSpPr>
          <p:cNvPr id="9" name="矩形 8"/>
          <p:cNvSpPr/>
          <p:nvPr/>
        </p:nvSpPr>
        <p:spPr>
          <a:xfrm>
            <a:off x="2794506" y="3507854"/>
            <a:ext cx="297216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[</a:t>
            </a:r>
            <a:r>
              <a:rPr lang="en-US" altLang="zh-CN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num</a:t>
            </a:r>
            <a:r>
              <a:rPr lang="en-US" altLang="zh-CN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den]=zp2tf(</a:t>
            </a:r>
            <a:r>
              <a:rPr lang="en-US" altLang="zh-CN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z,p,k</a:t>
            </a:r>
            <a:r>
              <a:rPr lang="en-US" altLang="zh-CN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);</a:t>
            </a:r>
            <a:endParaRPr lang="en-US" altLang="zh-CN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[</a:t>
            </a:r>
            <a:r>
              <a:rPr lang="en-US" altLang="zh-CN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r,p,k</a:t>
            </a:r>
            <a:r>
              <a:rPr lang="en-US" altLang="zh-CN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]=residue(</a:t>
            </a:r>
            <a:r>
              <a:rPr lang="en-US" altLang="zh-CN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num,den</a:t>
            </a:r>
            <a:r>
              <a:rPr lang="en-US" altLang="zh-CN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) 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2" name="TextBox 4"/>
          <p:cNvSpPr txBox="1"/>
          <p:nvPr/>
        </p:nvSpPr>
        <p:spPr>
          <a:xfrm>
            <a:off x="58727" y="379497"/>
            <a:ext cx="2424123" cy="49244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6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六、实验任务</a:t>
            </a:r>
            <a:endParaRPr lang="zh-CN" altLang="en-US" sz="2600" b="1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827584" y="1203598"/>
            <a:ext cx="775885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/>
              <a:t>任务</a:t>
            </a:r>
            <a:r>
              <a:rPr lang="en-US" altLang="zh-CN" sz="2000" dirty="0"/>
              <a:t>4</a:t>
            </a:r>
            <a:r>
              <a:rPr lang="zh-CN" altLang="en-US" sz="2000" dirty="0"/>
              <a:t>：已知系统                             ，求其单位负反馈闭环传递函数</a:t>
            </a:r>
            <a:endParaRPr lang="zh-CN" altLang="en-US" sz="2000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3102079" y="1126978"/>
          <a:ext cx="1592565" cy="5533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Equation" r:id="rId1" imgW="1129665" imgH="393700" progId="Equation.DSMT4">
                  <p:embed/>
                </p:oleObj>
              </mc:Choice>
              <mc:Fallback>
                <p:oleObj name="Equation" r:id="rId1" imgW="1129665" imgH="393700" progId="Equation.DSMT4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2079" y="1126978"/>
                        <a:ext cx="1592565" cy="55334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4"/>
          <p:cNvSpPr txBox="1"/>
          <p:nvPr/>
        </p:nvSpPr>
        <p:spPr>
          <a:xfrm>
            <a:off x="58727" y="379497"/>
            <a:ext cx="2424123" cy="49244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6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六、实验任务</a:t>
            </a:r>
            <a:endParaRPr lang="zh-CN" altLang="en-US" sz="2600" b="1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"/>
          <p:cNvSpPr txBox="1"/>
          <p:nvPr/>
        </p:nvSpPr>
        <p:spPr>
          <a:xfrm>
            <a:off x="58727" y="379497"/>
            <a:ext cx="2424123" cy="49244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6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七、实验报告</a:t>
            </a:r>
            <a:endParaRPr lang="zh-CN" altLang="en-US" sz="2600" b="1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23515" y="1120676"/>
            <a:ext cx="2159336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0" algn="just">
              <a:spcAft>
                <a:spcPts val="1200"/>
              </a:spcAft>
            </a:pPr>
            <a:r>
              <a:rPr lang="zh-CN" altLang="en-US" sz="2400" b="1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实验报告要求：</a:t>
            </a:r>
            <a:endParaRPr lang="en-US" altLang="zh-CN" sz="2400" b="1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TextBox 6"/>
          <p:cNvSpPr txBox="1"/>
          <p:nvPr/>
        </p:nvSpPr>
        <p:spPr>
          <a:xfrm>
            <a:off x="1061357" y="1755060"/>
            <a:ext cx="6044119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400" b="1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实验目的；</a:t>
            </a:r>
            <a:endParaRPr lang="zh-CN" altLang="en-US" sz="2400" b="1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400" b="1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实验任务</a:t>
            </a:r>
            <a:r>
              <a:rPr lang="en-US" altLang="zh-CN" sz="2400" b="1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2400" b="1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要求；</a:t>
            </a:r>
            <a:endParaRPr lang="zh-CN" altLang="en-US" sz="2400" b="1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400" b="1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实验仪器、设备及材料；</a:t>
            </a:r>
            <a:endParaRPr lang="zh-CN" altLang="en-US" sz="2400" b="1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400" b="1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实验原理；</a:t>
            </a:r>
            <a:endParaRPr lang="zh-CN" altLang="en-US" sz="2400" b="1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400" b="1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实验步骤；</a:t>
            </a:r>
            <a:endParaRPr lang="zh-CN" altLang="en-US" sz="2400" b="1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400" b="1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实验结果及心得。</a:t>
            </a:r>
            <a:endParaRPr lang="zh-CN" altLang="en-US" sz="2400" b="1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BBE0E3"/>
      </a:accent1>
      <a:accent2>
        <a:srgbClr val="333399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Default Design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Default 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 panose="020B060402020202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 panose="020B060402020202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3291</Words>
  <Application>WPS 演示</Application>
  <PresentationFormat>全屏显示(16:9)</PresentationFormat>
  <Paragraphs>310</Paragraphs>
  <Slides>44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21</vt:i4>
      </vt:variant>
      <vt:variant>
        <vt:lpstr>幻灯片标题</vt:lpstr>
      </vt:variant>
      <vt:variant>
        <vt:i4>44</vt:i4>
      </vt:variant>
    </vt:vector>
  </HeadingPairs>
  <TitlesOfParts>
    <vt:vector size="84" baseType="lpstr">
      <vt:lpstr>Arial</vt:lpstr>
      <vt:lpstr>宋体</vt:lpstr>
      <vt:lpstr>Wingdings</vt:lpstr>
      <vt:lpstr>Arial</vt:lpstr>
      <vt:lpstr>Times New Roman</vt:lpstr>
      <vt:lpstr>Verdana</vt:lpstr>
      <vt:lpstr>华文细黑</vt:lpstr>
      <vt:lpstr>微软雅黑</vt:lpstr>
      <vt:lpstr>方正中等线简体</vt:lpstr>
      <vt:lpstr>Arial Unicode MS</vt:lpstr>
      <vt:lpstr>Calibri</vt:lpstr>
      <vt:lpstr>KSOF0A0AA78C</vt:lpstr>
      <vt:lpstr>FFont-Family</vt:lpstr>
      <vt:lpstr>Arial Unicode MS</vt:lpstr>
      <vt:lpstr>Cambria Math</vt:lpstr>
      <vt:lpstr>Helvetica</vt:lpstr>
      <vt:lpstr>KSOFB4AB0A6B</vt:lpstr>
      <vt:lpstr>Default Design</vt:lpstr>
      <vt:lpstr>自定义设计方案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 能 控 制</dc:title>
  <dc:creator>微软用户</dc:creator>
  <cp:lastModifiedBy>懒虫</cp:lastModifiedBy>
  <cp:revision>486</cp:revision>
  <dcterms:created xsi:type="dcterms:W3CDTF">2009-07-20T06:04:00Z</dcterms:created>
  <dcterms:modified xsi:type="dcterms:W3CDTF">2026-09-08T03:13:24Z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7DDBA83407FE461F93DF4B99690A02E0_12</vt:lpwstr>
  </property>
</Properties>
</file>